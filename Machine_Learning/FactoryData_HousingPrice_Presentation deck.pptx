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305" r:id="rId3"/>
    <p:sldId id="312" r:id="rId4"/>
    <p:sldId id="314" r:id="rId5"/>
    <p:sldId id="309" r:id="rId6"/>
    <p:sldId id="310" r:id="rId7"/>
    <p:sldId id="311" r:id="rId8"/>
    <p:sldId id="294" r:id="rId9"/>
    <p:sldId id="295" r:id="rId10"/>
    <p:sldId id="315" r:id="rId11"/>
    <p:sldId id="316" r:id="rId12"/>
    <p:sldId id="319" r:id="rId13"/>
    <p:sldId id="317" r:id="rId14"/>
    <p:sldId id="321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1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Ong" userId="d3079bc9197161f1" providerId="LiveId" clId="{8E9A9EC9-472B-4313-8C65-9136C5C8EECC}"/>
    <pc:docChg chg="undo redo custSel addSld delSld modSld sldOrd">
      <pc:chgData name="Jason Ong" userId="d3079bc9197161f1" providerId="LiveId" clId="{8E9A9EC9-472B-4313-8C65-9136C5C8EECC}" dt="2026-01-10T16:17:30.297" v="11083" actId="27636"/>
      <pc:docMkLst>
        <pc:docMk/>
      </pc:docMkLst>
      <pc:sldChg chg="modSp mod">
        <pc:chgData name="Jason Ong" userId="d3079bc9197161f1" providerId="LiveId" clId="{8E9A9EC9-472B-4313-8C65-9136C5C8EECC}" dt="2026-01-10T16:17:30.297" v="11083" actId="27636"/>
        <pc:sldMkLst>
          <pc:docMk/>
          <pc:sldMk cId="713003443" sldId="281"/>
        </pc:sldMkLst>
        <pc:spChg chg="mod">
          <ac:chgData name="Jason Ong" userId="d3079bc9197161f1" providerId="LiveId" clId="{8E9A9EC9-472B-4313-8C65-9136C5C8EECC}" dt="2026-01-10T16:17:30.297" v="11083" actId="27636"/>
          <ac:spMkLst>
            <pc:docMk/>
            <pc:sldMk cId="713003443" sldId="281"/>
            <ac:spMk id="2" creationId="{966AD969-895D-51C1-5285-00262C3213A3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409877-40C2-4ED8-99FA-565D887C509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C378436-92A2-41CE-A7DA-CD40FD5D4E3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u="sng" dirty="0"/>
            <a:t>Purpose:</a:t>
          </a:r>
          <a:endParaRPr lang="en-US" dirty="0"/>
        </a:p>
      </dgm:t>
    </dgm:pt>
    <dgm:pt modelId="{07E9A71A-A103-4A61-B902-6117D7C3A97E}" type="parTrans" cxnId="{461C6FC5-13EE-4D59-9308-94111154AE72}">
      <dgm:prSet/>
      <dgm:spPr/>
      <dgm:t>
        <a:bodyPr/>
        <a:lstStyle/>
        <a:p>
          <a:endParaRPr lang="en-US"/>
        </a:p>
      </dgm:t>
    </dgm:pt>
    <dgm:pt modelId="{329880B0-45A9-49CA-8E37-BA0DF4B68589}" type="sibTrans" cxnId="{461C6FC5-13EE-4D59-9308-94111154AE72}">
      <dgm:prSet/>
      <dgm:spPr/>
      <dgm:t>
        <a:bodyPr/>
        <a:lstStyle/>
        <a:p>
          <a:endParaRPr lang="en-US"/>
        </a:p>
      </dgm:t>
    </dgm:pt>
    <dgm:pt modelId="{CA543326-2553-4F68-83CE-DD8018337B66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en-US" dirty="0"/>
            <a:t>- Build a machine learning model to predict   whether a machine is working or faulty. </a:t>
          </a:r>
        </a:p>
      </dgm:t>
    </dgm:pt>
    <dgm:pt modelId="{ED9106F6-730D-43EA-B349-248AF77790E0}" type="parTrans" cxnId="{AC983E50-2E21-49C2-ADD3-050830191D1E}">
      <dgm:prSet/>
      <dgm:spPr/>
      <dgm:t>
        <a:bodyPr/>
        <a:lstStyle/>
        <a:p>
          <a:endParaRPr lang="en-US"/>
        </a:p>
      </dgm:t>
    </dgm:pt>
    <dgm:pt modelId="{C454029F-1E66-473A-8E9D-9FF9A686324E}" type="sibTrans" cxnId="{AC983E50-2E21-49C2-ADD3-050830191D1E}">
      <dgm:prSet/>
      <dgm:spPr/>
      <dgm:t>
        <a:bodyPr/>
        <a:lstStyle/>
        <a:p>
          <a:endParaRPr lang="en-US"/>
        </a:p>
      </dgm:t>
    </dgm:pt>
    <dgm:pt modelId="{0CB2B7DA-1B59-4779-8054-6C9E2343B1A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u="sng" dirty="0"/>
            <a:t>Approach :</a:t>
          </a:r>
          <a:endParaRPr lang="en-US" dirty="0"/>
        </a:p>
      </dgm:t>
    </dgm:pt>
    <dgm:pt modelId="{7E748B84-0F2C-467D-8FE8-A1410AC9DC96}" type="parTrans" cxnId="{9278172C-665F-4554-A90E-798CB312528F}">
      <dgm:prSet/>
      <dgm:spPr/>
      <dgm:t>
        <a:bodyPr/>
        <a:lstStyle/>
        <a:p>
          <a:endParaRPr lang="en-US"/>
        </a:p>
      </dgm:t>
    </dgm:pt>
    <dgm:pt modelId="{2ADF198A-9652-45FC-9EC4-5BE50823CB9F}" type="sibTrans" cxnId="{9278172C-665F-4554-A90E-798CB312528F}">
      <dgm:prSet/>
      <dgm:spPr/>
      <dgm:t>
        <a:bodyPr/>
        <a:lstStyle/>
        <a:p>
          <a:endParaRPr lang="en-US"/>
        </a:p>
      </dgm:t>
    </dgm:pt>
    <dgm:pt modelId="{F1D9E17E-7BC9-4E86-80E2-6BE6C605E045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dirty="0"/>
            <a:t>- </a:t>
          </a:r>
          <a:r>
            <a:rPr lang="en-US" b="1" dirty="0"/>
            <a:t>Examine</a:t>
          </a:r>
          <a:r>
            <a:rPr lang="en-US" dirty="0"/>
            <a:t> features in existing data set and </a:t>
          </a:r>
          <a:r>
            <a:rPr lang="en-US" b="1" dirty="0"/>
            <a:t>identify</a:t>
          </a:r>
          <a:r>
            <a:rPr lang="en-US" dirty="0"/>
            <a:t> critical features used for modelling.</a:t>
          </a:r>
        </a:p>
        <a:p>
          <a:pPr algn="l">
            <a:lnSpc>
              <a:spcPct val="100000"/>
            </a:lnSpc>
          </a:pPr>
          <a:r>
            <a:rPr lang="en-US" dirty="0"/>
            <a:t> - </a:t>
          </a:r>
          <a:r>
            <a:rPr lang="en-US" b="1" dirty="0"/>
            <a:t>Build</a:t>
          </a:r>
          <a:r>
            <a:rPr lang="en-US" dirty="0"/>
            <a:t> </a:t>
          </a:r>
          <a:r>
            <a:rPr lang="en-US" b="0" dirty="0"/>
            <a:t>classification</a:t>
          </a:r>
          <a:r>
            <a:rPr lang="en-US" dirty="0"/>
            <a:t> models with machine learning algorithms; use </a:t>
          </a:r>
          <a:r>
            <a:rPr lang="en-US" b="1" dirty="0">
              <a:solidFill>
                <a:schemeClr val="tx1"/>
              </a:solidFill>
            </a:rPr>
            <a:t>regularization</a:t>
          </a:r>
          <a:r>
            <a:rPr lang="en-US" dirty="0">
              <a:solidFill>
                <a:schemeClr val="tx1"/>
              </a:solidFill>
            </a:rPr>
            <a:t> (Ridge), </a:t>
          </a:r>
          <a:r>
            <a:rPr lang="en-US" b="1" dirty="0">
              <a:solidFill>
                <a:schemeClr val="tx1"/>
              </a:solidFill>
            </a:rPr>
            <a:t>hyperparameters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b="1" dirty="0">
              <a:solidFill>
                <a:schemeClr val="tx1"/>
              </a:solidFill>
            </a:rPr>
            <a:t>tuning</a:t>
          </a:r>
          <a:r>
            <a:rPr lang="en-US" dirty="0">
              <a:solidFill>
                <a:schemeClr val="tx1"/>
              </a:solidFill>
            </a:rPr>
            <a:t> (</a:t>
          </a:r>
          <a:r>
            <a:rPr lang="en-US" dirty="0" err="1">
              <a:solidFill>
                <a:schemeClr val="tx1"/>
              </a:solidFill>
            </a:rPr>
            <a:t>GridSearch</a:t>
          </a:r>
          <a:r>
            <a:rPr lang="en-US" dirty="0">
              <a:solidFill>
                <a:schemeClr val="tx1"/>
              </a:solidFill>
            </a:rPr>
            <a:t>) and </a:t>
          </a:r>
          <a:r>
            <a:rPr lang="en-US" b="1" dirty="0">
              <a:solidFill>
                <a:schemeClr val="tx1"/>
              </a:solidFill>
            </a:rPr>
            <a:t>SMOTE</a:t>
          </a:r>
          <a:r>
            <a:rPr lang="en-US" dirty="0">
              <a:solidFill>
                <a:schemeClr val="tx1"/>
              </a:solidFill>
            </a:rPr>
            <a:t> to improve performance. </a:t>
          </a:r>
        </a:p>
        <a:p>
          <a:pPr algn="l">
            <a:lnSpc>
              <a:spcPct val="100000"/>
            </a:lnSpc>
          </a:pPr>
          <a:r>
            <a:rPr lang="en-US" dirty="0"/>
            <a:t>- The </a:t>
          </a:r>
          <a:r>
            <a:rPr lang="en-US" b="1" dirty="0"/>
            <a:t>output</a:t>
          </a:r>
          <a:r>
            <a:rPr lang="en-US" dirty="0"/>
            <a:t> </a:t>
          </a:r>
          <a:r>
            <a:rPr lang="en-US" b="1" dirty="0"/>
            <a:t>variable</a:t>
          </a:r>
          <a:r>
            <a:rPr lang="en-US" dirty="0"/>
            <a:t> is </a:t>
          </a:r>
          <a:r>
            <a:rPr lang="en-US" b="0" dirty="0"/>
            <a:t>Machine status is working (</a:t>
          </a:r>
          <a:r>
            <a:rPr lang="en-US" b="1" dirty="0"/>
            <a:t>=0</a:t>
          </a:r>
          <a:r>
            <a:rPr lang="en-US" b="0" dirty="0"/>
            <a:t>) or faulty </a:t>
          </a:r>
          <a:r>
            <a:rPr lang="en-US" b="1" dirty="0"/>
            <a:t>(=1</a:t>
          </a:r>
          <a:r>
            <a:rPr lang="en-US" b="0" dirty="0"/>
            <a:t>). </a:t>
          </a:r>
        </a:p>
        <a:p>
          <a:pPr algn="l">
            <a:lnSpc>
              <a:spcPct val="100000"/>
            </a:lnSpc>
          </a:pPr>
          <a:r>
            <a:rPr lang="en-US" dirty="0"/>
            <a:t>- The model is evaluated on </a:t>
          </a:r>
          <a:r>
            <a:rPr lang="en-US" b="1" dirty="0"/>
            <a:t>Confusion</a:t>
          </a:r>
          <a:r>
            <a:rPr lang="en-US" dirty="0"/>
            <a:t> </a:t>
          </a:r>
          <a:r>
            <a:rPr lang="en-US" b="1" dirty="0"/>
            <a:t>Matrix</a:t>
          </a:r>
          <a:r>
            <a:rPr lang="en-US" dirty="0"/>
            <a:t>. </a:t>
          </a:r>
        </a:p>
      </dgm:t>
    </dgm:pt>
    <dgm:pt modelId="{2F8D63DE-9866-4B2A-A3E6-3250DB579C1A}" type="parTrans" cxnId="{51238154-37D3-42FF-B1B8-153F5547139A}">
      <dgm:prSet/>
      <dgm:spPr/>
      <dgm:t>
        <a:bodyPr/>
        <a:lstStyle/>
        <a:p>
          <a:endParaRPr lang="en-US"/>
        </a:p>
      </dgm:t>
    </dgm:pt>
    <dgm:pt modelId="{124B0A0F-43FD-45BF-86EF-D835741FFE41}" type="sibTrans" cxnId="{51238154-37D3-42FF-B1B8-153F5547139A}">
      <dgm:prSet/>
      <dgm:spPr/>
      <dgm:t>
        <a:bodyPr/>
        <a:lstStyle/>
        <a:p>
          <a:endParaRPr lang="en-US"/>
        </a:p>
      </dgm:t>
    </dgm:pt>
    <dgm:pt modelId="{C78A6EEF-3F8A-4EA7-8D0C-670998710F25}" type="pres">
      <dgm:prSet presAssocID="{86409877-40C2-4ED8-99FA-565D887C5096}" presName="root" presStyleCnt="0">
        <dgm:presLayoutVars>
          <dgm:dir/>
          <dgm:resizeHandles val="exact"/>
        </dgm:presLayoutVars>
      </dgm:prSet>
      <dgm:spPr/>
    </dgm:pt>
    <dgm:pt modelId="{CE1495A5-C2D7-40B5-BD86-07F79E4ADAB1}" type="pres">
      <dgm:prSet presAssocID="{8C378436-92A2-41CE-A7DA-CD40FD5D4E34}" presName="compNode" presStyleCnt="0"/>
      <dgm:spPr/>
    </dgm:pt>
    <dgm:pt modelId="{60F52C29-8A77-4CDB-8F91-48421C968063}" type="pres">
      <dgm:prSet presAssocID="{8C378436-92A2-41CE-A7DA-CD40FD5D4E34}" presName="iconRect" presStyleLbl="node1" presStyleIdx="0" presStyleCnt="2" custLinFactNeighborX="17599" custLinFactNeighborY="-5081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D21101C-A40F-47C2-B7F3-7BDFF4976D3F}" type="pres">
      <dgm:prSet presAssocID="{8C378436-92A2-41CE-A7DA-CD40FD5D4E34}" presName="iconSpace" presStyleCnt="0"/>
      <dgm:spPr/>
    </dgm:pt>
    <dgm:pt modelId="{F657E9A5-5F06-4400-9A84-E873A18C9429}" type="pres">
      <dgm:prSet presAssocID="{8C378436-92A2-41CE-A7DA-CD40FD5D4E34}" presName="parTx" presStyleLbl="revTx" presStyleIdx="0" presStyleCnt="4" custLinFactY="-60250" custLinFactNeighborX="-2952" custLinFactNeighborY="-100000">
        <dgm:presLayoutVars>
          <dgm:chMax val="0"/>
          <dgm:chPref val="0"/>
        </dgm:presLayoutVars>
      </dgm:prSet>
      <dgm:spPr/>
    </dgm:pt>
    <dgm:pt modelId="{0918D224-E4EB-4422-9164-F8A73AACFDAC}" type="pres">
      <dgm:prSet presAssocID="{8C378436-92A2-41CE-A7DA-CD40FD5D4E34}" presName="txSpace" presStyleCnt="0"/>
      <dgm:spPr/>
    </dgm:pt>
    <dgm:pt modelId="{6AB54005-539B-4B7F-A3E5-054C6043B98C}" type="pres">
      <dgm:prSet presAssocID="{8C378436-92A2-41CE-A7DA-CD40FD5D4E34}" presName="desTx" presStyleLbl="revTx" presStyleIdx="1" presStyleCnt="4" custLinFactY="-100000" custLinFactNeighborX="-2956" custLinFactNeighborY="-112151">
        <dgm:presLayoutVars/>
      </dgm:prSet>
      <dgm:spPr/>
    </dgm:pt>
    <dgm:pt modelId="{814A44F2-1EE8-43EA-A539-2F9A34769032}" type="pres">
      <dgm:prSet presAssocID="{329880B0-45A9-49CA-8E37-BA0DF4B68589}" presName="sibTrans" presStyleCnt="0"/>
      <dgm:spPr/>
    </dgm:pt>
    <dgm:pt modelId="{9DD713EE-7F9E-4FEC-A345-368A93A743AE}" type="pres">
      <dgm:prSet presAssocID="{0CB2B7DA-1B59-4779-8054-6C9E2343B1A2}" presName="compNode" presStyleCnt="0"/>
      <dgm:spPr/>
    </dgm:pt>
    <dgm:pt modelId="{833E8D83-BFDF-4689-8604-DB71FCDC652A}" type="pres">
      <dgm:prSet presAssocID="{0CB2B7DA-1B59-4779-8054-6C9E2343B1A2}" presName="iconRect" presStyleLbl="node1" presStyleIdx="1" presStyleCnt="2" custLinFactNeighborX="-67671" custLinFactNeighborY="-5345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2D45177-BDA4-4023-B984-DFF360D7640F}" type="pres">
      <dgm:prSet presAssocID="{0CB2B7DA-1B59-4779-8054-6C9E2343B1A2}" presName="iconSpace" presStyleCnt="0"/>
      <dgm:spPr/>
    </dgm:pt>
    <dgm:pt modelId="{A49F9AD1-7E86-4291-8BD2-76DA870C7A4E}" type="pres">
      <dgm:prSet presAssocID="{0CB2B7DA-1B59-4779-8054-6C9E2343B1A2}" presName="parTx" presStyleLbl="revTx" presStyleIdx="2" presStyleCnt="4" custLinFactY="-61891" custLinFactNeighborX="-20114" custLinFactNeighborY="-100000">
        <dgm:presLayoutVars>
          <dgm:chMax val="0"/>
          <dgm:chPref val="0"/>
        </dgm:presLayoutVars>
      </dgm:prSet>
      <dgm:spPr/>
    </dgm:pt>
    <dgm:pt modelId="{4770E40B-EFF8-4877-B561-724B1021C714}" type="pres">
      <dgm:prSet presAssocID="{0CB2B7DA-1B59-4779-8054-6C9E2343B1A2}" presName="txSpace" presStyleCnt="0"/>
      <dgm:spPr/>
    </dgm:pt>
    <dgm:pt modelId="{1F8B5E6E-9C05-4685-BBEA-073351F42B11}" type="pres">
      <dgm:prSet presAssocID="{0CB2B7DA-1B59-4779-8054-6C9E2343B1A2}" presName="desTx" presStyleLbl="revTx" presStyleIdx="3" presStyleCnt="4" custScaleX="130807" custLinFactY="-100000" custLinFactNeighborX="-4903" custLinFactNeighborY="-108188">
        <dgm:presLayoutVars/>
      </dgm:prSet>
      <dgm:spPr/>
    </dgm:pt>
  </dgm:ptLst>
  <dgm:cxnLst>
    <dgm:cxn modelId="{044F1B17-B8C5-4849-B62F-9141F472401E}" type="presOf" srcId="{0CB2B7DA-1B59-4779-8054-6C9E2343B1A2}" destId="{A49F9AD1-7E86-4291-8BD2-76DA870C7A4E}" srcOrd="0" destOrd="0" presId="urn:microsoft.com/office/officeart/2018/2/layout/IconLabelDescriptionList"/>
    <dgm:cxn modelId="{C679C222-C3D2-4F7C-ACCA-C9AFB8E106D3}" type="presOf" srcId="{86409877-40C2-4ED8-99FA-565D887C5096}" destId="{C78A6EEF-3F8A-4EA7-8D0C-670998710F25}" srcOrd="0" destOrd="0" presId="urn:microsoft.com/office/officeart/2018/2/layout/IconLabelDescriptionList"/>
    <dgm:cxn modelId="{9278172C-665F-4554-A90E-798CB312528F}" srcId="{86409877-40C2-4ED8-99FA-565D887C5096}" destId="{0CB2B7DA-1B59-4779-8054-6C9E2343B1A2}" srcOrd="1" destOrd="0" parTransId="{7E748B84-0F2C-467D-8FE8-A1410AC9DC96}" sibTransId="{2ADF198A-9652-45FC-9EC4-5BE50823CB9F}"/>
    <dgm:cxn modelId="{AC983E50-2E21-49C2-ADD3-050830191D1E}" srcId="{8C378436-92A2-41CE-A7DA-CD40FD5D4E34}" destId="{CA543326-2553-4F68-83CE-DD8018337B66}" srcOrd="0" destOrd="0" parTransId="{ED9106F6-730D-43EA-B349-248AF77790E0}" sibTransId="{C454029F-1E66-473A-8E9D-9FF9A686324E}"/>
    <dgm:cxn modelId="{51238154-37D3-42FF-B1B8-153F5547139A}" srcId="{0CB2B7DA-1B59-4779-8054-6C9E2343B1A2}" destId="{F1D9E17E-7BC9-4E86-80E2-6BE6C605E045}" srcOrd="0" destOrd="0" parTransId="{2F8D63DE-9866-4B2A-A3E6-3250DB579C1A}" sibTransId="{124B0A0F-43FD-45BF-86EF-D835741FFE41}"/>
    <dgm:cxn modelId="{C86AD596-67F1-4AB4-9BA8-1CDA5225C5B2}" type="presOf" srcId="{F1D9E17E-7BC9-4E86-80E2-6BE6C605E045}" destId="{1F8B5E6E-9C05-4685-BBEA-073351F42B11}" srcOrd="0" destOrd="0" presId="urn:microsoft.com/office/officeart/2018/2/layout/IconLabelDescriptionList"/>
    <dgm:cxn modelId="{994B18B6-DF14-46D0-B713-E4B0CC20200B}" type="presOf" srcId="{CA543326-2553-4F68-83CE-DD8018337B66}" destId="{6AB54005-539B-4B7F-A3E5-054C6043B98C}" srcOrd="0" destOrd="0" presId="urn:microsoft.com/office/officeart/2018/2/layout/IconLabelDescriptionList"/>
    <dgm:cxn modelId="{461C6FC5-13EE-4D59-9308-94111154AE72}" srcId="{86409877-40C2-4ED8-99FA-565D887C5096}" destId="{8C378436-92A2-41CE-A7DA-CD40FD5D4E34}" srcOrd="0" destOrd="0" parTransId="{07E9A71A-A103-4A61-B902-6117D7C3A97E}" sibTransId="{329880B0-45A9-49CA-8E37-BA0DF4B68589}"/>
    <dgm:cxn modelId="{E90F4BE6-C2BB-4F3B-9E48-AD3318E92473}" type="presOf" srcId="{8C378436-92A2-41CE-A7DA-CD40FD5D4E34}" destId="{F657E9A5-5F06-4400-9A84-E873A18C9429}" srcOrd="0" destOrd="0" presId="urn:microsoft.com/office/officeart/2018/2/layout/IconLabelDescriptionList"/>
    <dgm:cxn modelId="{1951B04F-C93A-40CB-9B52-65448D8F1A5C}" type="presParOf" srcId="{C78A6EEF-3F8A-4EA7-8D0C-670998710F25}" destId="{CE1495A5-C2D7-40B5-BD86-07F79E4ADAB1}" srcOrd="0" destOrd="0" presId="urn:microsoft.com/office/officeart/2018/2/layout/IconLabelDescriptionList"/>
    <dgm:cxn modelId="{1F6EA4DA-5C5E-44CC-9E3B-4718BF1279B6}" type="presParOf" srcId="{CE1495A5-C2D7-40B5-BD86-07F79E4ADAB1}" destId="{60F52C29-8A77-4CDB-8F91-48421C968063}" srcOrd="0" destOrd="0" presId="urn:microsoft.com/office/officeart/2018/2/layout/IconLabelDescriptionList"/>
    <dgm:cxn modelId="{641DB2FD-0943-4376-A949-E3A7FFDE92B1}" type="presParOf" srcId="{CE1495A5-C2D7-40B5-BD86-07F79E4ADAB1}" destId="{0D21101C-A40F-47C2-B7F3-7BDFF4976D3F}" srcOrd="1" destOrd="0" presId="urn:microsoft.com/office/officeart/2018/2/layout/IconLabelDescriptionList"/>
    <dgm:cxn modelId="{FA3D201C-40FD-40F9-958F-ED80CFF9A1BD}" type="presParOf" srcId="{CE1495A5-C2D7-40B5-BD86-07F79E4ADAB1}" destId="{F657E9A5-5F06-4400-9A84-E873A18C9429}" srcOrd="2" destOrd="0" presId="urn:microsoft.com/office/officeart/2018/2/layout/IconLabelDescriptionList"/>
    <dgm:cxn modelId="{7950CAD5-4B9E-4E83-9FB7-2EA56E3B96D2}" type="presParOf" srcId="{CE1495A5-C2D7-40B5-BD86-07F79E4ADAB1}" destId="{0918D224-E4EB-4422-9164-F8A73AACFDAC}" srcOrd="3" destOrd="0" presId="urn:microsoft.com/office/officeart/2018/2/layout/IconLabelDescriptionList"/>
    <dgm:cxn modelId="{786B6DCE-4A29-4684-885A-853FC6E0AE9A}" type="presParOf" srcId="{CE1495A5-C2D7-40B5-BD86-07F79E4ADAB1}" destId="{6AB54005-539B-4B7F-A3E5-054C6043B98C}" srcOrd="4" destOrd="0" presId="urn:microsoft.com/office/officeart/2018/2/layout/IconLabelDescriptionList"/>
    <dgm:cxn modelId="{3F2D03E4-4AC1-44E9-91BD-2054A1352B63}" type="presParOf" srcId="{C78A6EEF-3F8A-4EA7-8D0C-670998710F25}" destId="{814A44F2-1EE8-43EA-A539-2F9A34769032}" srcOrd="1" destOrd="0" presId="urn:microsoft.com/office/officeart/2018/2/layout/IconLabelDescriptionList"/>
    <dgm:cxn modelId="{3B86E7BE-FDB6-412D-B249-0F90EB1D11E3}" type="presParOf" srcId="{C78A6EEF-3F8A-4EA7-8D0C-670998710F25}" destId="{9DD713EE-7F9E-4FEC-A345-368A93A743AE}" srcOrd="2" destOrd="0" presId="urn:microsoft.com/office/officeart/2018/2/layout/IconLabelDescriptionList"/>
    <dgm:cxn modelId="{95E7F8D3-EDB0-4AA9-9FB2-1ADF2C14A4BF}" type="presParOf" srcId="{9DD713EE-7F9E-4FEC-A345-368A93A743AE}" destId="{833E8D83-BFDF-4689-8604-DB71FCDC652A}" srcOrd="0" destOrd="0" presId="urn:microsoft.com/office/officeart/2018/2/layout/IconLabelDescriptionList"/>
    <dgm:cxn modelId="{90CC12FA-D08F-4AFA-9080-04B2809AD8B4}" type="presParOf" srcId="{9DD713EE-7F9E-4FEC-A345-368A93A743AE}" destId="{72D45177-BDA4-4023-B984-DFF360D7640F}" srcOrd="1" destOrd="0" presId="urn:microsoft.com/office/officeart/2018/2/layout/IconLabelDescriptionList"/>
    <dgm:cxn modelId="{A4738175-D0FD-44FE-8FDD-BF9549B0F28F}" type="presParOf" srcId="{9DD713EE-7F9E-4FEC-A345-368A93A743AE}" destId="{A49F9AD1-7E86-4291-8BD2-76DA870C7A4E}" srcOrd="2" destOrd="0" presId="urn:microsoft.com/office/officeart/2018/2/layout/IconLabelDescriptionList"/>
    <dgm:cxn modelId="{3207AA64-EC23-4DB5-A55D-2F43D1A2E5A5}" type="presParOf" srcId="{9DD713EE-7F9E-4FEC-A345-368A93A743AE}" destId="{4770E40B-EFF8-4877-B561-724B1021C714}" srcOrd="3" destOrd="0" presId="urn:microsoft.com/office/officeart/2018/2/layout/IconLabelDescriptionList"/>
    <dgm:cxn modelId="{6CB957D6-47B9-4076-84E9-0D1DA804A4A4}" type="presParOf" srcId="{9DD713EE-7F9E-4FEC-A345-368A93A743AE}" destId="{1F8B5E6E-9C05-4685-BBEA-073351F42B1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409877-40C2-4ED8-99FA-565D887C509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C378436-92A2-41CE-A7DA-CD40FD5D4E3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u="sng"/>
            <a:t>Purpose:</a:t>
          </a:r>
          <a:endParaRPr lang="en-US"/>
        </a:p>
      </dgm:t>
    </dgm:pt>
    <dgm:pt modelId="{07E9A71A-A103-4A61-B902-6117D7C3A97E}" type="parTrans" cxnId="{461C6FC5-13EE-4D59-9308-94111154AE72}">
      <dgm:prSet/>
      <dgm:spPr/>
      <dgm:t>
        <a:bodyPr/>
        <a:lstStyle/>
        <a:p>
          <a:endParaRPr lang="en-US"/>
        </a:p>
      </dgm:t>
    </dgm:pt>
    <dgm:pt modelId="{329880B0-45A9-49CA-8E37-BA0DF4B68589}" type="sibTrans" cxnId="{461C6FC5-13EE-4D59-9308-94111154AE72}">
      <dgm:prSet/>
      <dgm:spPr/>
      <dgm:t>
        <a:bodyPr/>
        <a:lstStyle/>
        <a:p>
          <a:endParaRPr lang="en-US"/>
        </a:p>
      </dgm:t>
    </dgm:pt>
    <dgm:pt modelId="{CA543326-2553-4F68-83CE-DD8018337B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 Build a machine learning model to predict sale prices of houses in King County.</a:t>
          </a:r>
        </a:p>
      </dgm:t>
    </dgm:pt>
    <dgm:pt modelId="{ED9106F6-730D-43EA-B349-248AF77790E0}" type="parTrans" cxnId="{AC983E50-2E21-49C2-ADD3-050830191D1E}">
      <dgm:prSet/>
      <dgm:spPr/>
      <dgm:t>
        <a:bodyPr/>
        <a:lstStyle/>
        <a:p>
          <a:endParaRPr lang="en-US"/>
        </a:p>
      </dgm:t>
    </dgm:pt>
    <dgm:pt modelId="{C454029F-1E66-473A-8E9D-9FF9A686324E}" type="sibTrans" cxnId="{AC983E50-2E21-49C2-ADD3-050830191D1E}">
      <dgm:prSet/>
      <dgm:spPr/>
      <dgm:t>
        <a:bodyPr/>
        <a:lstStyle/>
        <a:p>
          <a:endParaRPr lang="en-US"/>
        </a:p>
      </dgm:t>
    </dgm:pt>
    <dgm:pt modelId="{0CB2B7DA-1B59-4779-8054-6C9E2343B1A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u="sng" dirty="0"/>
            <a:t>Approach :</a:t>
          </a:r>
          <a:endParaRPr lang="en-US" dirty="0"/>
        </a:p>
      </dgm:t>
    </dgm:pt>
    <dgm:pt modelId="{7E748B84-0F2C-467D-8FE8-A1410AC9DC96}" type="parTrans" cxnId="{9278172C-665F-4554-A90E-798CB312528F}">
      <dgm:prSet/>
      <dgm:spPr/>
      <dgm:t>
        <a:bodyPr/>
        <a:lstStyle/>
        <a:p>
          <a:endParaRPr lang="en-US"/>
        </a:p>
      </dgm:t>
    </dgm:pt>
    <dgm:pt modelId="{2ADF198A-9652-45FC-9EC4-5BE50823CB9F}" type="sibTrans" cxnId="{9278172C-665F-4554-A90E-798CB312528F}">
      <dgm:prSet/>
      <dgm:spPr/>
      <dgm:t>
        <a:bodyPr/>
        <a:lstStyle/>
        <a:p>
          <a:endParaRPr lang="en-US"/>
        </a:p>
      </dgm:t>
    </dgm:pt>
    <dgm:pt modelId="{F1D9E17E-7BC9-4E86-80E2-6BE6C605E045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dirty="0"/>
            <a:t>- </a:t>
          </a:r>
          <a:r>
            <a:rPr lang="en-US" b="1" dirty="0"/>
            <a:t>Examine</a:t>
          </a:r>
          <a:r>
            <a:rPr lang="en-US" dirty="0"/>
            <a:t> features in existing data set and </a:t>
          </a:r>
          <a:r>
            <a:rPr lang="en-US" b="1" dirty="0"/>
            <a:t>identify</a:t>
          </a:r>
          <a:r>
            <a:rPr lang="en-US" dirty="0"/>
            <a:t> critical features used for modelling.</a:t>
          </a:r>
        </a:p>
        <a:p>
          <a:pPr algn="l">
            <a:lnSpc>
              <a:spcPct val="100000"/>
            </a:lnSpc>
          </a:pPr>
          <a:r>
            <a:rPr lang="en-US" dirty="0"/>
            <a:t> - </a:t>
          </a:r>
          <a:r>
            <a:rPr lang="en-US" b="1" dirty="0"/>
            <a:t>Build</a:t>
          </a:r>
          <a:r>
            <a:rPr lang="en-US" dirty="0"/>
            <a:t> regression models with machine learning algorithms; use regularization (Ridge) and tuning of hyper parameters to improve performance. </a:t>
          </a:r>
        </a:p>
        <a:p>
          <a:pPr algn="l">
            <a:lnSpc>
              <a:spcPct val="100000"/>
            </a:lnSpc>
          </a:pPr>
          <a:r>
            <a:rPr lang="en-US" dirty="0"/>
            <a:t>- The </a:t>
          </a:r>
          <a:r>
            <a:rPr lang="en-US" b="1" dirty="0"/>
            <a:t>output</a:t>
          </a:r>
          <a:r>
            <a:rPr lang="en-US" dirty="0"/>
            <a:t> variable is house </a:t>
          </a:r>
          <a:r>
            <a:rPr lang="en-US" b="1" dirty="0"/>
            <a:t>prices</a:t>
          </a:r>
          <a:r>
            <a:rPr lang="en-US" dirty="0"/>
            <a:t>. </a:t>
          </a:r>
        </a:p>
        <a:p>
          <a:pPr algn="l">
            <a:lnSpc>
              <a:spcPct val="100000"/>
            </a:lnSpc>
          </a:pPr>
          <a:r>
            <a:rPr lang="en-US" dirty="0"/>
            <a:t>- The model will be evaluated by </a:t>
          </a:r>
          <a:r>
            <a:rPr lang="en-US" b="1" dirty="0"/>
            <a:t>RMSE</a:t>
          </a:r>
          <a:r>
            <a:rPr lang="en-US" dirty="0"/>
            <a:t>. </a:t>
          </a:r>
        </a:p>
      </dgm:t>
    </dgm:pt>
    <dgm:pt modelId="{2F8D63DE-9866-4B2A-A3E6-3250DB579C1A}" type="parTrans" cxnId="{51238154-37D3-42FF-B1B8-153F5547139A}">
      <dgm:prSet/>
      <dgm:spPr/>
      <dgm:t>
        <a:bodyPr/>
        <a:lstStyle/>
        <a:p>
          <a:endParaRPr lang="en-US"/>
        </a:p>
      </dgm:t>
    </dgm:pt>
    <dgm:pt modelId="{124B0A0F-43FD-45BF-86EF-D835741FFE41}" type="sibTrans" cxnId="{51238154-37D3-42FF-B1B8-153F5547139A}">
      <dgm:prSet/>
      <dgm:spPr/>
      <dgm:t>
        <a:bodyPr/>
        <a:lstStyle/>
        <a:p>
          <a:endParaRPr lang="en-US"/>
        </a:p>
      </dgm:t>
    </dgm:pt>
    <dgm:pt modelId="{7D98D32F-C210-48F0-BC63-D740AA83806D}" type="pres">
      <dgm:prSet presAssocID="{86409877-40C2-4ED8-99FA-565D887C5096}" presName="root" presStyleCnt="0">
        <dgm:presLayoutVars>
          <dgm:dir/>
          <dgm:resizeHandles val="exact"/>
        </dgm:presLayoutVars>
      </dgm:prSet>
      <dgm:spPr/>
    </dgm:pt>
    <dgm:pt modelId="{3D68EC5E-A91E-48DF-81A1-E9FB666D50FC}" type="pres">
      <dgm:prSet presAssocID="{8C378436-92A2-41CE-A7DA-CD40FD5D4E34}" presName="compNode" presStyleCnt="0"/>
      <dgm:spPr/>
    </dgm:pt>
    <dgm:pt modelId="{9E84053A-4B41-4E5C-814F-7A93D7AA12A5}" type="pres">
      <dgm:prSet presAssocID="{8C378436-92A2-41CE-A7DA-CD40FD5D4E34}" presName="iconRect" presStyleLbl="node1" presStyleIdx="0" presStyleCnt="2" custLinFactNeighborX="-18301" custLinFactNeighborY="-1583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D5DE243D-EE57-4844-A5CC-388C0AE73B77}" type="pres">
      <dgm:prSet presAssocID="{8C378436-92A2-41CE-A7DA-CD40FD5D4E34}" presName="iconSpace" presStyleCnt="0"/>
      <dgm:spPr/>
    </dgm:pt>
    <dgm:pt modelId="{CCCCDA93-BD02-49F1-AAB9-2C1D332310AE}" type="pres">
      <dgm:prSet presAssocID="{8C378436-92A2-41CE-A7DA-CD40FD5D4E34}" presName="parTx" presStyleLbl="revTx" presStyleIdx="0" presStyleCnt="4" custLinFactNeighborX="-6405" custLinFactNeighborY="-50074">
        <dgm:presLayoutVars>
          <dgm:chMax val="0"/>
          <dgm:chPref val="0"/>
        </dgm:presLayoutVars>
      </dgm:prSet>
      <dgm:spPr/>
    </dgm:pt>
    <dgm:pt modelId="{EB956F63-70B5-41F5-A89C-8E7084BBCB32}" type="pres">
      <dgm:prSet presAssocID="{8C378436-92A2-41CE-A7DA-CD40FD5D4E34}" presName="txSpace" presStyleCnt="0"/>
      <dgm:spPr/>
    </dgm:pt>
    <dgm:pt modelId="{C7F29F48-AA1D-4BB9-AD99-E364B9AF4C85}" type="pres">
      <dgm:prSet presAssocID="{8C378436-92A2-41CE-A7DA-CD40FD5D4E34}" presName="desTx" presStyleLbl="revTx" presStyleIdx="1" presStyleCnt="4" custLinFactNeighborX="-6405" custLinFactNeighborY="-66831">
        <dgm:presLayoutVars/>
      </dgm:prSet>
      <dgm:spPr/>
    </dgm:pt>
    <dgm:pt modelId="{D6073B19-ACB6-424D-98CE-C2E81FBC1B65}" type="pres">
      <dgm:prSet presAssocID="{329880B0-45A9-49CA-8E37-BA0DF4B68589}" presName="sibTrans" presStyleCnt="0"/>
      <dgm:spPr/>
    </dgm:pt>
    <dgm:pt modelId="{004BCA2C-36BD-44C1-8130-23864B5467DA}" type="pres">
      <dgm:prSet presAssocID="{0CB2B7DA-1B59-4779-8054-6C9E2343B1A2}" presName="compNode" presStyleCnt="0"/>
      <dgm:spPr/>
    </dgm:pt>
    <dgm:pt modelId="{9523CE9A-0E17-47D5-B79B-38DCFB2545D4}" type="pres">
      <dgm:prSet presAssocID="{0CB2B7DA-1B59-4779-8054-6C9E2343B1A2}" presName="iconRect" presStyleLbl="node1" presStyleIdx="1" presStyleCnt="2" custLinFactNeighborX="-42378" custLinFactNeighborY="-1531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E668168-259C-478F-A676-EEF3E330E2D9}" type="pres">
      <dgm:prSet presAssocID="{0CB2B7DA-1B59-4779-8054-6C9E2343B1A2}" presName="iconSpace" presStyleCnt="0"/>
      <dgm:spPr/>
    </dgm:pt>
    <dgm:pt modelId="{9CC9E69B-5010-4333-A05C-860BF3A876D4}" type="pres">
      <dgm:prSet presAssocID="{0CB2B7DA-1B59-4779-8054-6C9E2343B1A2}" presName="parTx" presStyleLbl="revTx" presStyleIdx="2" presStyleCnt="4" custLinFactNeighborX="-11727" custLinFactNeighborY="-51140">
        <dgm:presLayoutVars>
          <dgm:chMax val="0"/>
          <dgm:chPref val="0"/>
        </dgm:presLayoutVars>
      </dgm:prSet>
      <dgm:spPr/>
    </dgm:pt>
    <dgm:pt modelId="{569067D5-A017-432D-AFCD-FAD743F94229}" type="pres">
      <dgm:prSet presAssocID="{0CB2B7DA-1B59-4779-8054-6C9E2343B1A2}" presName="txSpace" presStyleCnt="0"/>
      <dgm:spPr/>
    </dgm:pt>
    <dgm:pt modelId="{C4435173-5AB6-4E0C-8EC3-D8F678839E1E}" type="pres">
      <dgm:prSet presAssocID="{0CB2B7DA-1B59-4779-8054-6C9E2343B1A2}" presName="desTx" presStyleLbl="revTx" presStyleIdx="3" presStyleCnt="4" custScaleX="108744" custLinFactNeighborX="1237" custLinFactNeighborY="-70858">
        <dgm:presLayoutVars/>
      </dgm:prSet>
      <dgm:spPr/>
    </dgm:pt>
  </dgm:ptLst>
  <dgm:cxnLst>
    <dgm:cxn modelId="{54CCCF10-00C5-43BF-83BA-30E573FA3E9A}" type="presOf" srcId="{F1D9E17E-7BC9-4E86-80E2-6BE6C605E045}" destId="{C4435173-5AB6-4E0C-8EC3-D8F678839E1E}" srcOrd="0" destOrd="0" presId="urn:microsoft.com/office/officeart/2018/5/layout/CenteredIconLabelDescriptionList"/>
    <dgm:cxn modelId="{9278172C-665F-4554-A90E-798CB312528F}" srcId="{86409877-40C2-4ED8-99FA-565D887C5096}" destId="{0CB2B7DA-1B59-4779-8054-6C9E2343B1A2}" srcOrd="1" destOrd="0" parTransId="{7E748B84-0F2C-467D-8FE8-A1410AC9DC96}" sibTransId="{2ADF198A-9652-45FC-9EC4-5BE50823CB9F}"/>
    <dgm:cxn modelId="{82DEEA3B-55C8-472E-8B37-9B5B2AA099DC}" type="presOf" srcId="{0CB2B7DA-1B59-4779-8054-6C9E2343B1A2}" destId="{9CC9E69B-5010-4333-A05C-860BF3A876D4}" srcOrd="0" destOrd="0" presId="urn:microsoft.com/office/officeart/2018/5/layout/CenteredIconLabelDescriptionList"/>
    <dgm:cxn modelId="{D672EE49-3931-4624-B637-8BEFC8FFEBC5}" type="presOf" srcId="{8C378436-92A2-41CE-A7DA-CD40FD5D4E34}" destId="{CCCCDA93-BD02-49F1-AAB9-2C1D332310AE}" srcOrd="0" destOrd="0" presId="urn:microsoft.com/office/officeart/2018/5/layout/CenteredIconLabelDescriptionList"/>
    <dgm:cxn modelId="{AC983E50-2E21-49C2-ADD3-050830191D1E}" srcId="{8C378436-92A2-41CE-A7DA-CD40FD5D4E34}" destId="{CA543326-2553-4F68-83CE-DD8018337B66}" srcOrd="0" destOrd="0" parTransId="{ED9106F6-730D-43EA-B349-248AF77790E0}" sibTransId="{C454029F-1E66-473A-8E9D-9FF9A686324E}"/>
    <dgm:cxn modelId="{51238154-37D3-42FF-B1B8-153F5547139A}" srcId="{0CB2B7DA-1B59-4779-8054-6C9E2343B1A2}" destId="{F1D9E17E-7BC9-4E86-80E2-6BE6C605E045}" srcOrd="0" destOrd="0" parTransId="{2F8D63DE-9866-4B2A-A3E6-3250DB579C1A}" sibTransId="{124B0A0F-43FD-45BF-86EF-D835741FFE41}"/>
    <dgm:cxn modelId="{461C6FC5-13EE-4D59-9308-94111154AE72}" srcId="{86409877-40C2-4ED8-99FA-565D887C5096}" destId="{8C378436-92A2-41CE-A7DA-CD40FD5D4E34}" srcOrd="0" destOrd="0" parTransId="{07E9A71A-A103-4A61-B902-6117D7C3A97E}" sibTransId="{329880B0-45A9-49CA-8E37-BA0DF4B68589}"/>
    <dgm:cxn modelId="{2DDFBDDD-B5CA-4A51-9E56-EF4112D663B7}" type="presOf" srcId="{86409877-40C2-4ED8-99FA-565D887C5096}" destId="{7D98D32F-C210-48F0-BC63-D740AA83806D}" srcOrd="0" destOrd="0" presId="urn:microsoft.com/office/officeart/2018/5/layout/CenteredIconLabelDescriptionList"/>
    <dgm:cxn modelId="{A76432EA-E652-4953-8DBB-7B3CF960C43C}" type="presOf" srcId="{CA543326-2553-4F68-83CE-DD8018337B66}" destId="{C7F29F48-AA1D-4BB9-AD99-E364B9AF4C85}" srcOrd="0" destOrd="0" presId="urn:microsoft.com/office/officeart/2018/5/layout/CenteredIconLabelDescriptionList"/>
    <dgm:cxn modelId="{77022CC3-527F-4732-A801-7347CF34BABF}" type="presParOf" srcId="{7D98D32F-C210-48F0-BC63-D740AA83806D}" destId="{3D68EC5E-A91E-48DF-81A1-E9FB666D50FC}" srcOrd="0" destOrd="0" presId="urn:microsoft.com/office/officeart/2018/5/layout/CenteredIconLabelDescriptionList"/>
    <dgm:cxn modelId="{5F398CC5-7193-402A-AB37-29A4447EF398}" type="presParOf" srcId="{3D68EC5E-A91E-48DF-81A1-E9FB666D50FC}" destId="{9E84053A-4B41-4E5C-814F-7A93D7AA12A5}" srcOrd="0" destOrd="0" presId="urn:microsoft.com/office/officeart/2018/5/layout/CenteredIconLabelDescriptionList"/>
    <dgm:cxn modelId="{E070BABE-C32F-4E77-B560-966A98A53D45}" type="presParOf" srcId="{3D68EC5E-A91E-48DF-81A1-E9FB666D50FC}" destId="{D5DE243D-EE57-4844-A5CC-388C0AE73B77}" srcOrd="1" destOrd="0" presId="urn:microsoft.com/office/officeart/2018/5/layout/CenteredIconLabelDescriptionList"/>
    <dgm:cxn modelId="{0F59EC67-72FF-4CFC-AD74-83945779F459}" type="presParOf" srcId="{3D68EC5E-A91E-48DF-81A1-E9FB666D50FC}" destId="{CCCCDA93-BD02-49F1-AAB9-2C1D332310AE}" srcOrd="2" destOrd="0" presId="urn:microsoft.com/office/officeart/2018/5/layout/CenteredIconLabelDescriptionList"/>
    <dgm:cxn modelId="{B12F04A2-F271-4D3D-9445-41EAAE17BFE4}" type="presParOf" srcId="{3D68EC5E-A91E-48DF-81A1-E9FB666D50FC}" destId="{EB956F63-70B5-41F5-A89C-8E7084BBCB32}" srcOrd="3" destOrd="0" presId="urn:microsoft.com/office/officeart/2018/5/layout/CenteredIconLabelDescriptionList"/>
    <dgm:cxn modelId="{E99C937A-BB0C-4DDB-A4A4-BED5B0DC099C}" type="presParOf" srcId="{3D68EC5E-A91E-48DF-81A1-E9FB666D50FC}" destId="{C7F29F48-AA1D-4BB9-AD99-E364B9AF4C85}" srcOrd="4" destOrd="0" presId="urn:microsoft.com/office/officeart/2018/5/layout/CenteredIconLabelDescriptionList"/>
    <dgm:cxn modelId="{FCF13DFD-7127-4E6F-9E68-1ADDE687C1A3}" type="presParOf" srcId="{7D98D32F-C210-48F0-BC63-D740AA83806D}" destId="{D6073B19-ACB6-424D-98CE-C2E81FBC1B65}" srcOrd="1" destOrd="0" presId="urn:microsoft.com/office/officeart/2018/5/layout/CenteredIconLabelDescriptionList"/>
    <dgm:cxn modelId="{C698D6BA-A881-4B02-B0B6-28733D9732BE}" type="presParOf" srcId="{7D98D32F-C210-48F0-BC63-D740AA83806D}" destId="{004BCA2C-36BD-44C1-8130-23864B5467DA}" srcOrd="2" destOrd="0" presId="urn:microsoft.com/office/officeart/2018/5/layout/CenteredIconLabelDescriptionList"/>
    <dgm:cxn modelId="{62AF2F0F-BED7-4212-A512-718C75967610}" type="presParOf" srcId="{004BCA2C-36BD-44C1-8130-23864B5467DA}" destId="{9523CE9A-0E17-47D5-B79B-38DCFB2545D4}" srcOrd="0" destOrd="0" presId="urn:microsoft.com/office/officeart/2018/5/layout/CenteredIconLabelDescriptionList"/>
    <dgm:cxn modelId="{98AEDD4E-D187-464E-B261-FC6D3F93474C}" type="presParOf" srcId="{004BCA2C-36BD-44C1-8130-23864B5467DA}" destId="{2E668168-259C-478F-A676-EEF3E330E2D9}" srcOrd="1" destOrd="0" presId="urn:microsoft.com/office/officeart/2018/5/layout/CenteredIconLabelDescriptionList"/>
    <dgm:cxn modelId="{0303F5FC-C3DD-4F34-B538-D5C72B4496AC}" type="presParOf" srcId="{004BCA2C-36BD-44C1-8130-23864B5467DA}" destId="{9CC9E69B-5010-4333-A05C-860BF3A876D4}" srcOrd="2" destOrd="0" presId="urn:microsoft.com/office/officeart/2018/5/layout/CenteredIconLabelDescriptionList"/>
    <dgm:cxn modelId="{9F14772B-5820-4F1F-85BB-3156430F5A3A}" type="presParOf" srcId="{004BCA2C-36BD-44C1-8130-23864B5467DA}" destId="{569067D5-A017-432D-AFCD-FAD743F94229}" srcOrd="3" destOrd="0" presId="urn:microsoft.com/office/officeart/2018/5/layout/CenteredIconLabelDescriptionList"/>
    <dgm:cxn modelId="{E62BA30B-EFC4-4672-8CD7-8D74AE6E52A4}" type="presParOf" srcId="{004BCA2C-36BD-44C1-8130-23864B5467DA}" destId="{C4435173-5AB6-4E0C-8EC3-D8F678839E1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F52C29-8A77-4CDB-8F91-48421C968063}">
      <dsp:nvSpPr>
        <dsp:cNvPr id="0" name=""/>
        <dsp:cNvSpPr/>
      </dsp:nvSpPr>
      <dsp:spPr>
        <a:xfrm>
          <a:off x="585922" y="202005"/>
          <a:ext cx="1510523" cy="15105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57E9A5-5F06-4400-9A84-E873A18C9429}">
      <dsp:nvSpPr>
        <dsp:cNvPr id="0" name=""/>
        <dsp:cNvSpPr/>
      </dsp:nvSpPr>
      <dsp:spPr>
        <a:xfrm>
          <a:off x="192683" y="1566490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u="sng" kern="1200" dirty="0"/>
            <a:t>Purpose:</a:t>
          </a:r>
          <a:endParaRPr lang="en-US" sz="3600" kern="1200" dirty="0"/>
        </a:p>
      </dsp:txBody>
      <dsp:txXfrm>
        <a:off x="192683" y="1566490"/>
        <a:ext cx="4315781" cy="647367"/>
      </dsp:txXfrm>
    </dsp:sp>
    <dsp:sp modelId="{6AB54005-539B-4B7F-A3E5-054C6043B98C}">
      <dsp:nvSpPr>
        <dsp:cNvPr id="0" name=""/>
        <dsp:cNvSpPr/>
      </dsp:nvSpPr>
      <dsp:spPr>
        <a:xfrm>
          <a:off x="192511" y="2171144"/>
          <a:ext cx="4315781" cy="536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Build a machine learning model to predict   whether a machine is working or faulty. </a:t>
          </a:r>
        </a:p>
      </dsp:txBody>
      <dsp:txXfrm>
        <a:off x="192511" y="2171144"/>
        <a:ext cx="4315781" cy="536254"/>
      </dsp:txXfrm>
    </dsp:sp>
    <dsp:sp modelId="{833E8D83-BFDF-4689-8604-DB71FCDC652A}">
      <dsp:nvSpPr>
        <dsp:cNvPr id="0" name=""/>
        <dsp:cNvSpPr/>
      </dsp:nvSpPr>
      <dsp:spPr>
        <a:xfrm>
          <a:off x="5033723" y="162233"/>
          <a:ext cx="1510523" cy="15105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9F9AD1-7E86-4291-8BD2-76DA870C7A4E}">
      <dsp:nvSpPr>
        <dsp:cNvPr id="0" name=""/>
        <dsp:cNvSpPr/>
      </dsp:nvSpPr>
      <dsp:spPr>
        <a:xfrm>
          <a:off x="5187833" y="1555866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u="sng" kern="1200" dirty="0"/>
            <a:t>Approach :</a:t>
          </a:r>
          <a:endParaRPr lang="en-US" sz="3600" kern="1200" dirty="0"/>
        </a:p>
      </dsp:txBody>
      <dsp:txXfrm>
        <a:off x="5187833" y="1555866"/>
        <a:ext cx="4315781" cy="647367"/>
      </dsp:txXfrm>
    </dsp:sp>
    <dsp:sp modelId="{1F8B5E6E-9C05-4685-BBEA-073351F42B11}">
      <dsp:nvSpPr>
        <dsp:cNvPr id="0" name=""/>
        <dsp:cNvSpPr/>
      </dsp:nvSpPr>
      <dsp:spPr>
        <a:xfrm>
          <a:off x="5179525" y="2192395"/>
          <a:ext cx="5645343" cy="536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</a:t>
          </a:r>
          <a:r>
            <a:rPr lang="en-US" sz="1700" b="1" kern="1200" dirty="0"/>
            <a:t>Examine</a:t>
          </a:r>
          <a:r>
            <a:rPr lang="en-US" sz="1700" kern="1200" dirty="0"/>
            <a:t> features in existing data set and </a:t>
          </a:r>
          <a:r>
            <a:rPr lang="en-US" sz="1700" b="1" kern="1200" dirty="0"/>
            <a:t>identify</a:t>
          </a:r>
          <a:r>
            <a:rPr lang="en-US" sz="1700" kern="1200" dirty="0"/>
            <a:t> critical features used for modelling.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- </a:t>
          </a:r>
          <a:r>
            <a:rPr lang="en-US" sz="1700" b="1" kern="1200" dirty="0"/>
            <a:t>Build</a:t>
          </a:r>
          <a:r>
            <a:rPr lang="en-US" sz="1700" kern="1200" dirty="0"/>
            <a:t> </a:t>
          </a:r>
          <a:r>
            <a:rPr lang="en-US" sz="1700" b="0" kern="1200" dirty="0"/>
            <a:t>classification</a:t>
          </a:r>
          <a:r>
            <a:rPr lang="en-US" sz="1700" kern="1200" dirty="0"/>
            <a:t> models with machine learning algorithms; use </a:t>
          </a:r>
          <a:r>
            <a:rPr lang="en-US" sz="1700" b="1" kern="1200" dirty="0">
              <a:solidFill>
                <a:schemeClr val="tx1"/>
              </a:solidFill>
            </a:rPr>
            <a:t>regularization</a:t>
          </a:r>
          <a:r>
            <a:rPr lang="en-US" sz="1700" kern="1200" dirty="0">
              <a:solidFill>
                <a:schemeClr val="tx1"/>
              </a:solidFill>
            </a:rPr>
            <a:t> (Ridge), </a:t>
          </a:r>
          <a:r>
            <a:rPr lang="en-US" sz="1700" b="1" kern="1200" dirty="0">
              <a:solidFill>
                <a:schemeClr val="tx1"/>
              </a:solidFill>
            </a:rPr>
            <a:t>hyperparameters</a:t>
          </a:r>
          <a:r>
            <a:rPr lang="en-US" sz="1700" kern="1200" dirty="0">
              <a:solidFill>
                <a:schemeClr val="tx1"/>
              </a:solidFill>
            </a:rPr>
            <a:t> </a:t>
          </a:r>
          <a:r>
            <a:rPr lang="en-US" sz="1700" b="1" kern="1200" dirty="0">
              <a:solidFill>
                <a:schemeClr val="tx1"/>
              </a:solidFill>
            </a:rPr>
            <a:t>tuning</a:t>
          </a:r>
          <a:r>
            <a:rPr lang="en-US" sz="1700" kern="1200" dirty="0">
              <a:solidFill>
                <a:schemeClr val="tx1"/>
              </a:solidFill>
            </a:rPr>
            <a:t> (</a:t>
          </a:r>
          <a:r>
            <a:rPr lang="en-US" sz="1700" kern="1200" dirty="0" err="1">
              <a:solidFill>
                <a:schemeClr val="tx1"/>
              </a:solidFill>
            </a:rPr>
            <a:t>GridSearch</a:t>
          </a:r>
          <a:r>
            <a:rPr lang="en-US" sz="1700" kern="1200" dirty="0">
              <a:solidFill>
                <a:schemeClr val="tx1"/>
              </a:solidFill>
            </a:rPr>
            <a:t>) and </a:t>
          </a:r>
          <a:r>
            <a:rPr lang="en-US" sz="1700" b="1" kern="1200" dirty="0">
              <a:solidFill>
                <a:schemeClr val="tx1"/>
              </a:solidFill>
            </a:rPr>
            <a:t>SMOTE</a:t>
          </a:r>
          <a:r>
            <a:rPr lang="en-US" sz="1700" kern="1200" dirty="0">
              <a:solidFill>
                <a:schemeClr val="tx1"/>
              </a:solidFill>
            </a:rPr>
            <a:t> to improve performance.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The </a:t>
          </a:r>
          <a:r>
            <a:rPr lang="en-US" sz="1700" b="1" kern="1200" dirty="0"/>
            <a:t>output</a:t>
          </a:r>
          <a:r>
            <a:rPr lang="en-US" sz="1700" kern="1200" dirty="0"/>
            <a:t> </a:t>
          </a:r>
          <a:r>
            <a:rPr lang="en-US" sz="1700" b="1" kern="1200" dirty="0"/>
            <a:t>variable</a:t>
          </a:r>
          <a:r>
            <a:rPr lang="en-US" sz="1700" kern="1200" dirty="0"/>
            <a:t> is </a:t>
          </a:r>
          <a:r>
            <a:rPr lang="en-US" sz="1700" b="0" kern="1200" dirty="0"/>
            <a:t>Machine status is working (</a:t>
          </a:r>
          <a:r>
            <a:rPr lang="en-US" sz="1700" b="1" kern="1200" dirty="0"/>
            <a:t>=0</a:t>
          </a:r>
          <a:r>
            <a:rPr lang="en-US" sz="1700" b="0" kern="1200" dirty="0"/>
            <a:t>) or faulty </a:t>
          </a:r>
          <a:r>
            <a:rPr lang="en-US" sz="1700" b="1" kern="1200" dirty="0"/>
            <a:t>(=1</a:t>
          </a:r>
          <a:r>
            <a:rPr lang="en-US" sz="1700" b="0" kern="1200" dirty="0"/>
            <a:t>).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The model is evaluated on </a:t>
          </a:r>
          <a:r>
            <a:rPr lang="en-US" sz="1700" b="1" kern="1200" dirty="0"/>
            <a:t>Confusion</a:t>
          </a:r>
          <a:r>
            <a:rPr lang="en-US" sz="1700" kern="1200" dirty="0"/>
            <a:t> </a:t>
          </a:r>
          <a:r>
            <a:rPr lang="en-US" sz="1700" b="1" kern="1200" dirty="0"/>
            <a:t>Matrix</a:t>
          </a:r>
          <a:r>
            <a:rPr lang="en-US" sz="1700" kern="1200" dirty="0"/>
            <a:t>. </a:t>
          </a:r>
        </a:p>
      </dsp:txBody>
      <dsp:txXfrm>
        <a:off x="5179525" y="2192395"/>
        <a:ext cx="5645343" cy="5362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84053A-4B41-4E5C-814F-7A93D7AA12A5}">
      <dsp:nvSpPr>
        <dsp:cNvPr id="0" name=""/>
        <dsp:cNvSpPr/>
      </dsp:nvSpPr>
      <dsp:spPr>
        <a:xfrm>
          <a:off x="1708004" y="417443"/>
          <a:ext cx="1510523" cy="15105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CCDA93-BD02-49F1-AAB9-2C1D332310AE}">
      <dsp:nvSpPr>
        <dsp:cNvPr id="0" name=""/>
        <dsp:cNvSpPr/>
      </dsp:nvSpPr>
      <dsp:spPr>
        <a:xfrm>
          <a:off x="305390" y="1966865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u="sng" kern="1200"/>
            <a:t>Purpose:</a:t>
          </a:r>
          <a:endParaRPr lang="en-US" sz="3600" kern="1200"/>
        </a:p>
      </dsp:txBody>
      <dsp:txXfrm>
        <a:off x="305390" y="1966865"/>
        <a:ext cx="4315781" cy="647367"/>
      </dsp:txXfrm>
    </dsp:sp>
    <dsp:sp modelId="{C7F29F48-AA1D-4BB9-AD99-E364B9AF4C85}">
      <dsp:nvSpPr>
        <dsp:cNvPr id="0" name=""/>
        <dsp:cNvSpPr/>
      </dsp:nvSpPr>
      <dsp:spPr>
        <a:xfrm>
          <a:off x="305390" y="2635018"/>
          <a:ext cx="4315781" cy="540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Build a machine learning model to predict sale prices of houses in King County.</a:t>
          </a:r>
        </a:p>
      </dsp:txBody>
      <dsp:txXfrm>
        <a:off x="305390" y="2635018"/>
        <a:ext cx="4315781" cy="540185"/>
      </dsp:txXfrm>
    </dsp:sp>
    <dsp:sp modelId="{9523CE9A-0E17-47D5-B79B-38DCFB2545D4}">
      <dsp:nvSpPr>
        <dsp:cNvPr id="0" name=""/>
        <dsp:cNvSpPr/>
      </dsp:nvSpPr>
      <dsp:spPr>
        <a:xfrm>
          <a:off x="6604044" y="425298"/>
          <a:ext cx="1510523" cy="15105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C9E69B-5010-4333-A05C-860BF3A876D4}">
      <dsp:nvSpPr>
        <dsp:cNvPr id="0" name=""/>
        <dsp:cNvSpPr/>
      </dsp:nvSpPr>
      <dsp:spPr>
        <a:xfrm>
          <a:off x="5335433" y="1959964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u="sng" kern="1200" dirty="0"/>
            <a:t>Approach :</a:t>
          </a:r>
          <a:endParaRPr lang="en-US" sz="3600" kern="1200" dirty="0"/>
        </a:p>
      </dsp:txBody>
      <dsp:txXfrm>
        <a:off x="5335433" y="1959964"/>
        <a:ext cx="4315781" cy="647367"/>
      </dsp:txXfrm>
    </dsp:sp>
    <dsp:sp modelId="{C4435173-5AB6-4E0C-8EC3-D8F678839E1E}">
      <dsp:nvSpPr>
        <dsp:cNvPr id="0" name=""/>
        <dsp:cNvSpPr/>
      </dsp:nvSpPr>
      <dsp:spPr>
        <a:xfrm>
          <a:off x="5706245" y="2613265"/>
          <a:ext cx="4693153" cy="540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</a:t>
          </a:r>
          <a:r>
            <a:rPr lang="en-US" sz="1700" b="1" kern="1200" dirty="0"/>
            <a:t>Examine</a:t>
          </a:r>
          <a:r>
            <a:rPr lang="en-US" sz="1700" kern="1200" dirty="0"/>
            <a:t> features in existing data set and </a:t>
          </a:r>
          <a:r>
            <a:rPr lang="en-US" sz="1700" b="1" kern="1200" dirty="0"/>
            <a:t>identify</a:t>
          </a:r>
          <a:r>
            <a:rPr lang="en-US" sz="1700" kern="1200" dirty="0"/>
            <a:t> critical features used for modelling.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- </a:t>
          </a:r>
          <a:r>
            <a:rPr lang="en-US" sz="1700" b="1" kern="1200" dirty="0"/>
            <a:t>Build</a:t>
          </a:r>
          <a:r>
            <a:rPr lang="en-US" sz="1700" kern="1200" dirty="0"/>
            <a:t> regression models with machine learning algorithms; use regularization (Ridge) and tuning of hyper parameters to improve performance.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The </a:t>
          </a:r>
          <a:r>
            <a:rPr lang="en-US" sz="1700" b="1" kern="1200" dirty="0"/>
            <a:t>output</a:t>
          </a:r>
          <a:r>
            <a:rPr lang="en-US" sz="1700" kern="1200" dirty="0"/>
            <a:t> variable is house </a:t>
          </a:r>
          <a:r>
            <a:rPr lang="en-US" sz="1700" b="1" kern="1200" dirty="0"/>
            <a:t>prices</a:t>
          </a:r>
          <a:r>
            <a:rPr lang="en-US" sz="1700" kern="1200" dirty="0"/>
            <a:t>.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The model will be evaluated by </a:t>
          </a:r>
          <a:r>
            <a:rPr lang="en-US" sz="1700" b="1" kern="1200" dirty="0"/>
            <a:t>RMSE</a:t>
          </a:r>
          <a:r>
            <a:rPr lang="en-US" sz="1700" kern="1200" dirty="0"/>
            <a:t>. </a:t>
          </a:r>
        </a:p>
      </dsp:txBody>
      <dsp:txXfrm>
        <a:off x="5706245" y="2613265"/>
        <a:ext cx="4693153" cy="5401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2B97E-FF27-927D-A02D-342016EBB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427F92-A713-9A42-2C9E-FD5B0A70A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5E961-2CC4-FC29-6841-6E3A7CD0E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11/1/2026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1962D-9424-A8E5-BD22-CC4F34925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F259C-48F0-78D7-E922-CC26FCB84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56733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7FEEB-966C-FAF2-C5B1-77F65EAE9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ED523-F193-2717-C64B-8EBDAF8AB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EA275-20B6-DD4C-AD56-DCD8A2074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11/1/2026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9C0E6-0B4D-40F2-9D6B-5D33B1C0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74371-40EF-33F3-B0F9-4BD2B62F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71152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91833-4BE1-AD2C-63DA-D2EA13400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D90DD-68F8-6992-3058-39CF6D118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7FBC8-F66D-061B-FB46-CDAD7859B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11/1/2026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D6C13-4CF1-798F-2D32-1A89339E5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AE85B-B2DA-2206-7E10-C8A2E48D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6695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1027F-E6AE-2BD8-D3D6-C94846C9B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E5E21-0908-FDD0-14F1-A942D5D70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1FB9C-D761-D365-67E4-4541796DE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45E38-0E99-D587-BF74-033B31AC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11/1/2026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8A764-3EAC-18B7-A21E-AAA135A1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C48E1-F9FC-239F-7B6F-F2782DBF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6887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EACAF-522F-FB46-09AB-4320371C1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22731-5A5B-AEC3-BDD3-0366330ED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92B8EE-9D48-3F5F-F5E6-388236553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5AE77E-D0AD-96D3-D8D5-55649C9573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27C83D-7526-B9A0-940E-EF852DEDE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96D0C2-5E8C-908D-1E8D-1573337B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11/1/2026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90CE52-9C64-4947-8347-3038B827C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F59C71-BC0F-29FB-27D0-94C75DED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96398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41B52-48AC-17EA-AA56-765065844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DCA9BC-F967-944F-E94D-6F2255A6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11/1/2026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7EC37E-C00D-27F0-216A-D90776DEC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4AB60-C180-987A-E74A-6526100A0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9596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B5FE8D-2EEC-DE52-B3CF-29D310E2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11/1/2026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B23E51-4251-385E-35AA-298CDB8C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A4E40-0782-F76B-64E8-96D8C8E1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1408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63A4D-5EC3-6B22-ABA1-B5E77AEBF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B6BD6-9798-F620-CE66-8624DB5E8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4B75E-5EE1-AE92-5159-028F43155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4FF5F-7E47-F7C4-C915-4B880E275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11/1/2026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E3476-528B-B444-189F-D477E6EF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6A5A7-6FB2-13D0-5ADF-79B40C558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21380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D1903-9890-1477-3CA4-6B7711641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0073D-025B-6DCD-BDBB-7EA6589FEA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9815A9-6587-CD65-453E-3A5F08FD5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20D3DE-A38C-DCCE-8ED8-641F858B3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11/1/2026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F64B7-E190-5332-9C72-0F7A830A3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F1EF6-042A-E830-F940-B7EC2BA9D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8565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0521A-3A86-5AB1-8D14-24293DA39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ABB457-A732-D1D7-B206-7F9934E63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E0493-1D8C-6CFD-34BF-C21568F9B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11/1/2026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6C9AE-5284-F204-669B-A137A611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58AA7-0CE8-646D-86AA-C0B55934C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77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38BA68-A855-48AD-E1A8-1B976B14F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9BC87-23CB-33EA-CEA3-5561B08CF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BBDAA-99B8-0AFE-ECCE-994D20D38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11/1/2026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028A2-EB5B-DAB7-015F-70FF7B0F1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D4199-E699-7856-EAEC-A8A3542DA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074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53813-0249-3357-2330-D2488EAD5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A5183-A4A7-CF31-A203-F7288193E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B3454-3969-C910-512F-696A7C080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57C4EB-3301-4ACA-98BF-C1A0DEC3B6A8}" type="datetimeFigureOut">
              <a:rPr lang="en-SG" smtClean="0"/>
              <a:t>11/1/2026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B487D-A10C-AFA5-8925-43FC50D826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EE356-9856-D815-32EA-29E5F2273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75653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356BE-0412-2A6F-EE85-A9281F960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5640CF-151C-5D72-C637-7305EC753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521" y="4880646"/>
            <a:ext cx="5449479" cy="1578054"/>
          </a:xfrm>
        </p:spPr>
        <p:txBody>
          <a:bodyPr anchor="b">
            <a:norm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</a:rPr>
              <a:t>– I Love this!</a:t>
            </a:r>
            <a:endParaRPr lang="en-SG" dirty="0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6AD969-895D-51C1-5285-00262C3213A3}"/>
              </a:ext>
            </a:extLst>
          </p:cNvPr>
          <p:cNvSpPr txBox="1"/>
          <p:nvPr/>
        </p:nvSpPr>
        <p:spPr>
          <a:xfrm>
            <a:off x="115433" y="5231220"/>
            <a:ext cx="9517665" cy="152045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700" b="1" kern="12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kern="1200" dirty="0">
                <a:latin typeface="+mj-lt"/>
                <a:ea typeface="+mj-ea"/>
                <a:cs typeface="+mj-cs"/>
              </a:rPr>
              <a:t>Name: Ong Jin Sheng	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kern="1200" dirty="0">
                <a:latin typeface="+mj-lt"/>
                <a:ea typeface="+mj-ea"/>
                <a:cs typeface="+mj-cs"/>
              </a:rPr>
              <a:t>Class: </a:t>
            </a:r>
            <a:r>
              <a:rPr lang="en-SG" sz="3700" b="1" dirty="0">
                <a:effectLst/>
                <a:latin typeface="+mj-lt"/>
                <a:ea typeface="Times New Roman" panose="02020603050405020304" pitchFamily="18" charset="0"/>
              </a:rPr>
              <a:t>SP-IT8302 </a:t>
            </a:r>
            <a:r>
              <a:rPr lang="en-US" sz="3700" b="1" dirty="0">
                <a:latin typeface="+mj-lt"/>
                <a:ea typeface="+mj-ea"/>
                <a:cs typeface="+mj-cs"/>
              </a:rPr>
              <a:t>Applied Machine Learning</a:t>
            </a:r>
            <a:endParaRPr lang="en-US" sz="3700" b="1" kern="12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700" b="1" kern="12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700" b="1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11716CA3-3901-6A01-0334-A07C44184A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40" r="5045"/>
          <a:stretch/>
        </p:blipFill>
        <p:spPr>
          <a:xfrm>
            <a:off x="0" y="0"/>
            <a:ext cx="12192000" cy="543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003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Steel machine">
            <a:extLst>
              <a:ext uri="{FF2B5EF4-FFF2-40B4-BE49-F238E27FC236}">
                <a16:creationId xmlns:a16="http://schemas.microsoft.com/office/drawing/2014/main" id="{BFB70DCB-8003-6943-7A2C-05318041D8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31" b="6999"/>
          <a:stretch>
            <a:fillRect/>
          </a:stretch>
        </p:blipFill>
        <p:spPr>
          <a:xfrm>
            <a:off x="1836978" y="-22"/>
            <a:ext cx="10355020" cy="593298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E385AE-3E5F-6650-D8D0-15D77635FF79}"/>
              </a:ext>
            </a:extLst>
          </p:cNvPr>
          <p:cNvSpPr txBox="1"/>
          <p:nvPr/>
        </p:nvSpPr>
        <p:spPr>
          <a:xfrm>
            <a:off x="-3050" y="5932966"/>
            <a:ext cx="12192000" cy="92503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r>
              <a:rPr lang="en-US" sz="4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Part A: Classification – Manufacturing factory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700" b="1" kern="12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700" b="1" kern="12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19298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B9DC4-53D6-C411-5AFE-DA67C7C37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CA481A2-6D95-4BF8-D8F6-587B7EB49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46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Objectives and Outline: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3" name="Title 1">
            <a:extLst>
              <a:ext uri="{FF2B5EF4-FFF2-40B4-BE49-F238E27FC236}">
                <a16:creationId xmlns:a16="http://schemas.microsoft.com/office/drawing/2014/main" id="{49840C26-572B-D7DB-B822-D43205C795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5915863"/>
              </p:ext>
            </p:extLst>
          </p:nvPr>
        </p:nvGraphicFramePr>
        <p:xfrm>
          <a:off x="605070" y="1575459"/>
          <a:ext cx="11356558" cy="48147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8142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16C76-8976-2FA4-F9B5-3757BA7F7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0A0B50F-06BD-B998-3B12-020F38CDF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711201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n-SG" sz="2800" b="1" dirty="0">
                <a:solidFill>
                  <a:schemeClr val="bg1"/>
                </a:solidFill>
              </a:rPr>
              <a:t>1.   Data Preprocessing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F382F-E702-0991-1A5B-4D7DE82568E2}"/>
              </a:ext>
            </a:extLst>
          </p:cNvPr>
          <p:cNvSpPr txBox="1">
            <a:spLocks/>
          </p:cNvSpPr>
          <p:nvPr/>
        </p:nvSpPr>
        <p:spPr>
          <a:xfrm>
            <a:off x="5730949" y="893135"/>
            <a:ext cx="6039293" cy="5720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600" b="1" dirty="0"/>
              <a:t>#A. Data Cleaning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Checked for missing values; dropped null values from Columns: </a:t>
            </a:r>
            <a:r>
              <a:rPr lang="en-SG" sz="1400" b="1" dirty="0"/>
              <a:t>Quality</a:t>
            </a:r>
            <a:r>
              <a:rPr lang="en-SG" sz="1400" dirty="0"/>
              <a:t>, </a:t>
            </a:r>
            <a:r>
              <a:rPr lang="en-SG" sz="1400" b="1" dirty="0"/>
              <a:t>Rotation</a:t>
            </a:r>
            <a:r>
              <a:rPr lang="en-SG" sz="1400" dirty="0"/>
              <a:t> </a:t>
            </a:r>
            <a:r>
              <a:rPr lang="en-SG" sz="1400" b="1" dirty="0"/>
              <a:t>speed</a:t>
            </a:r>
            <a:r>
              <a:rPr lang="en-SG" sz="1400" dirty="0"/>
              <a:t> and </a:t>
            </a:r>
            <a:r>
              <a:rPr lang="en-SG" sz="1400" b="1" dirty="0"/>
              <a:t>Process</a:t>
            </a:r>
            <a:r>
              <a:rPr lang="en-SG" sz="1400" dirty="0"/>
              <a:t> </a:t>
            </a:r>
            <a:r>
              <a:rPr lang="en-SG" sz="1400" b="1" dirty="0"/>
              <a:t>T (C). </a:t>
            </a:r>
            <a:r>
              <a:rPr lang="en-SG" sz="1400" dirty="0"/>
              <a:t>They comprised of 2471 rows or 12% which is deemed small.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Unrequired columns (e.g. Unique/Product ID) are also dropped for model efficiency.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SG" sz="1100" b="1" dirty="0"/>
          </a:p>
          <a:p>
            <a:pPr>
              <a:lnSpc>
                <a:spcPct val="110000"/>
              </a:lnSpc>
            </a:pPr>
            <a:r>
              <a:rPr lang="en-SG" sz="1600" b="1" dirty="0"/>
              <a:t>#B. Data Curation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Generate a quick data summary to view the </a:t>
            </a:r>
            <a:r>
              <a:rPr lang="en-SG" sz="1400" b="1" dirty="0"/>
              <a:t>range</a:t>
            </a:r>
            <a:r>
              <a:rPr lang="en-SG" sz="1400" dirty="0"/>
              <a:t> and </a:t>
            </a:r>
            <a:r>
              <a:rPr lang="en-SG" sz="1400" b="1" dirty="0"/>
              <a:t>magnitude</a:t>
            </a:r>
            <a:r>
              <a:rPr lang="en-SG" sz="1400" dirty="0"/>
              <a:t> of values.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To decide if removal of outliers or standardization is required (i.e. Rotation speed). </a:t>
            </a:r>
          </a:p>
          <a:p>
            <a:pPr>
              <a:lnSpc>
                <a:spcPct val="110000"/>
              </a:lnSpc>
            </a:pPr>
            <a:endParaRPr lang="en-SG" sz="1100" b="1" dirty="0"/>
          </a:p>
          <a:p>
            <a:pPr>
              <a:lnSpc>
                <a:spcPct val="110000"/>
              </a:lnSpc>
            </a:pPr>
            <a:r>
              <a:rPr lang="en-SG" sz="1400" b="1" dirty="0"/>
              <a:t>#</a:t>
            </a:r>
            <a:r>
              <a:rPr lang="en-SG" sz="1600" b="1" dirty="0"/>
              <a:t>C. Features Selection (Provisional)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Correlation heatmap (Fig 1) and pair plots are created on numerical features to check for correlation ratios and collinearity on features. </a:t>
            </a:r>
          </a:p>
          <a:p>
            <a:pPr>
              <a:lnSpc>
                <a:spcPct val="110000"/>
              </a:lnSpc>
            </a:pPr>
            <a:endParaRPr lang="en-SG" sz="1050" dirty="0"/>
          </a:p>
          <a:p>
            <a:pPr>
              <a:lnSpc>
                <a:spcPct val="110000"/>
              </a:lnSpc>
            </a:pPr>
            <a:r>
              <a:rPr lang="en-SG" sz="1600" b="1" dirty="0"/>
              <a:t>Observations: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Based on heatmap, the correlation of features with machine status appears to be weak (&lt; 0.2), the highest is Torque (Nm) (0.19).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Ambient and Process T(C) suggests strong </a:t>
            </a:r>
            <a:r>
              <a:rPr lang="en-US" sz="1400" b="1" dirty="0"/>
              <a:t>positive</a:t>
            </a:r>
            <a:r>
              <a:rPr lang="en-US" sz="1400" dirty="0"/>
              <a:t> relationship (0.88) and collinearity.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Conversely, rotation speed and torque exhibits a strong </a:t>
            </a:r>
            <a:r>
              <a:rPr lang="en-US" sz="1400" b="1" dirty="0"/>
              <a:t>negative</a:t>
            </a:r>
            <a:r>
              <a:rPr lang="en-US" sz="1400" dirty="0"/>
              <a:t> relationship (-0.87) and collinearity. </a:t>
            </a:r>
            <a:endParaRPr lang="en-SG" sz="1400" dirty="0"/>
          </a:p>
          <a:p>
            <a:pPr>
              <a:lnSpc>
                <a:spcPct val="110000"/>
              </a:lnSpc>
            </a:pPr>
            <a:endParaRPr lang="en-SG" sz="1100" dirty="0"/>
          </a:p>
          <a:p>
            <a:pPr>
              <a:lnSpc>
                <a:spcPct val="110000"/>
              </a:lnSpc>
            </a:pPr>
            <a:r>
              <a:rPr lang="en-SG" sz="1600" b="1" dirty="0"/>
              <a:t>Recommendations: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Use EDA to determine which features are critical to create baseline model.</a:t>
            </a:r>
          </a:p>
          <a:p>
            <a:pPr>
              <a:lnSpc>
                <a:spcPct val="110000"/>
              </a:lnSpc>
            </a:pPr>
            <a:endParaRPr lang="en-SG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CA12DF-E5DC-FA19-4901-FBED9FA90284}"/>
              </a:ext>
            </a:extLst>
          </p:cNvPr>
          <p:cNvSpPr txBox="1"/>
          <p:nvPr/>
        </p:nvSpPr>
        <p:spPr>
          <a:xfrm>
            <a:off x="233915" y="6355906"/>
            <a:ext cx="101434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i="1" u="sng" dirty="0"/>
              <a:t>Foot notes</a:t>
            </a:r>
          </a:p>
          <a:p>
            <a:r>
              <a:rPr lang="en-SG" sz="1000" i="1" dirty="0"/>
              <a:t>#A. #B. #C.  -  refers to section labels which are found at the top of the accompanying </a:t>
            </a:r>
            <a:r>
              <a:rPr lang="en-SG" sz="1000" i="1" dirty="0" err="1"/>
              <a:t>Jupyter</a:t>
            </a:r>
            <a:r>
              <a:rPr lang="en-SG" sz="1000" i="1" dirty="0"/>
              <a:t> notebook. </a:t>
            </a:r>
          </a:p>
        </p:txBody>
      </p:sp>
      <p:pic>
        <p:nvPicPr>
          <p:cNvPr id="4" name="Picture 3" descr="A diagram of a machine">
            <a:extLst>
              <a:ext uri="{FF2B5EF4-FFF2-40B4-BE49-F238E27FC236}">
                <a16:creationId xmlns:a16="http://schemas.microsoft.com/office/drawing/2014/main" id="{4C714AE4-5D24-B38D-3C6A-09870E600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2492"/>
            <a:ext cx="5458471" cy="43753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6AE766-04FB-3F76-71FE-CD15FBEB1BD7}"/>
              </a:ext>
            </a:extLst>
          </p:cNvPr>
          <p:cNvSpPr txBox="1"/>
          <p:nvPr/>
        </p:nvSpPr>
        <p:spPr>
          <a:xfrm>
            <a:off x="559981" y="5536978"/>
            <a:ext cx="25458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i="1" dirty="0"/>
              <a:t>Fig 1 Correlation heatmap (provisional)</a:t>
            </a:r>
          </a:p>
        </p:txBody>
      </p:sp>
    </p:spTree>
    <p:extLst>
      <p:ext uri="{BB962C8B-B14F-4D97-AF65-F5344CB8AC3E}">
        <p14:creationId xmlns:p14="http://schemas.microsoft.com/office/powerpoint/2010/main" val="1622969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CEB42-419A-CF79-6DEB-6714DFA81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337F347-F914-70A5-912A-45CC99A1F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03452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n-SG" sz="2800" b="1" dirty="0">
                <a:solidFill>
                  <a:schemeClr val="bg1"/>
                </a:solidFill>
              </a:rPr>
              <a:t>2.   Exploratory Data Analysis</a:t>
            </a:r>
          </a:p>
        </p:txBody>
      </p:sp>
      <p:pic>
        <p:nvPicPr>
          <p:cNvPr id="3" name="Picture 2" descr="A graph of a machine status">
            <a:extLst>
              <a:ext uri="{FF2B5EF4-FFF2-40B4-BE49-F238E27FC236}">
                <a16:creationId xmlns:a16="http://schemas.microsoft.com/office/drawing/2014/main" id="{61B88C67-193E-CAC1-D291-BA19D0084F8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8257"/>
            <a:ext cx="3578400" cy="2772000"/>
          </a:xfrm>
          <a:prstGeom prst="rect">
            <a:avLst/>
          </a:prstGeom>
        </p:spPr>
      </p:pic>
      <p:pic>
        <p:nvPicPr>
          <p:cNvPr id="7" name="Picture 6" descr="A graph with numbers and a bar">
            <a:extLst>
              <a:ext uri="{FF2B5EF4-FFF2-40B4-BE49-F238E27FC236}">
                <a16:creationId xmlns:a16="http://schemas.microsoft.com/office/drawing/2014/main" id="{CC442106-4DC9-961D-4F37-5E1268A253B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819973" y="657000"/>
            <a:ext cx="3596400" cy="2772000"/>
          </a:xfrm>
          <a:prstGeom prst="rect">
            <a:avLst/>
          </a:prstGeom>
        </p:spPr>
      </p:pic>
      <p:pic>
        <p:nvPicPr>
          <p:cNvPr id="10" name="Picture 9" descr="A graph of a graph showing a line of blue and orange dots&#10;&#10;AI-generated content may be incorrect.">
            <a:extLst>
              <a:ext uri="{FF2B5EF4-FFF2-40B4-BE49-F238E27FC236}">
                <a16:creationId xmlns:a16="http://schemas.microsoft.com/office/drawing/2014/main" id="{B75D980B-4AD1-BACD-5198-0686B2C7895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819973" y="3536257"/>
            <a:ext cx="3528000" cy="2772000"/>
          </a:xfrm>
          <a:prstGeom prst="rect">
            <a:avLst/>
          </a:prstGeom>
        </p:spPr>
      </p:pic>
      <p:pic>
        <p:nvPicPr>
          <p:cNvPr id="13" name="Picture 12" descr="A diagram of a machine">
            <a:extLst>
              <a:ext uri="{FF2B5EF4-FFF2-40B4-BE49-F238E27FC236}">
                <a16:creationId xmlns:a16="http://schemas.microsoft.com/office/drawing/2014/main" id="{7C4678B3-99F0-8659-7A59-878FCA8989BB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43324" y="3500257"/>
            <a:ext cx="3600000" cy="280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669F4A02-2E86-F299-7546-6227D8A12D7D}"/>
              </a:ext>
            </a:extLst>
          </p:cNvPr>
          <p:cNvSpPr txBox="1">
            <a:spLocks/>
          </p:cNvSpPr>
          <p:nvPr/>
        </p:nvSpPr>
        <p:spPr>
          <a:xfrm>
            <a:off x="7493022" y="551101"/>
            <a:ext cx="4313382" cy="59241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400" b="1" dirty="0"/>
              <a:t>#D. Exploratory Data Analysis (EDA)</a:t>
            </a:r>
          </a:p>
          <a:p>
            <a:endParaRPr lang="en-SG" sz="1400" b="1" u="sng" dirty="0"/>
          </a:p>
          <a:p>
            <a:r>
              <a:rPr lang="en-SG" sz="1900" b="1" dirty="0"/>
              <a:t>Observations</a:t>
            </a:r>
            <a:r>
              <a:rPr lang="en-SG" sz="1600" b="1" dirty="0"/>
              <a:t>: </a:t>
            </a:r>
          </a:p>
          <a:p>
            <a:pPr>
              <a:lnSpc>
                <a:spcPts val="600"/>
              </a:lnSpc>
            </a:pPr>
            <a:endParaRPr lang="en-SG" sz="1600" b="1" dirty="0"/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Machine Status (Top left): </a:t>
            </a:r>
            <a:r>
              <a:rPr lang="en-US" sz="1700" dirty="0"/>
              <a:t> Only 3.4% of dataset are faulty, this suggest </a:t>
            </a:r>
            <a:r>
              <a:rPr lang="en-US" sz="1700" u="sng" dirty="0"/>
              <a:t>significant class imbalance </a:t>
            </a:r>
            <a:r>
              <a:rPr lang="en-US" sz="1700" dirty="0"/>
              <a:t>(minority class). 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Quality (Top Right): </a:t>
            </a:r>
            <a:r>
              <a:rPr lang="en-US" sz="1700" dirty="0"/>
              <a:t>Machines quality are categorized as low  (60%), medium (30%) and high (10%); o/w ~69% of faulty machines are of low quality. This indicates majority of faulty machines are low - medium quality which is a critical feature. 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Scatter plot (Bottom left): </a:t>
            </a:r>
            <a:r>
              <a:rPr lang="en-US" sz="1700" dirty="0"/>
              <a:t>Machine faults seems likely to occurred at </a:t>
            </a:r>
            <a:r>
              <a:rPr lang="en-US" sz="1700" b="1" dirty="0"/>
              <a:t>high rpm – low torque </a:t>
            </a:r>
            <a:r>
              <a:rPr lang="en-US" sz="1700" dirty="0"/>
              <a:t>(e.g. idling state)</a:t>
            </a:r>
            <a:r>
              <a:rPr lang="en-US" sz="1700" b="1" dirty="0"/>
              <a:t> </a:t>
            </a:r>
            <a:r>
              <a:rPr lang="en-US" sz="1700" dirty="0"/>
              <a:t>or </a:t>
            </a:r>
            <a:r>
              <a:rPr lang="en-US" sz="1700" b="1" dirty="0"/>
              <a:t>low rpm - high torque </a:t>
            </a:r>
            <a:r>
              <a:rPr lang="en-US" sz="1700" dirty="0"/>
              <a:t>(e.g. heavy load at slow speed)</a:t>
            </a:r>
            <a:r>
              <a:rPr lang="en-US" sz="1700" b="1" dirty="0"/>
              <a:t>.</a:t>
            </a:r>
            <a:r>
              <a:rPr lang="en-SG" sz="1700" dirty="0"/>
              <a:t> 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Scatter plot (Bottom right) # </a:t>
            </a:r>
            <a:r>
              <a:rPr lang="en-US" sz="1700" dirty="0"/>
              <a:t>Despite high positive correlation, there is no clear trend (randomly distributed) to evaluate at which temperatures does machines fail.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SG" sz="1200" dirty="0"/>
          </a:p>
          <a:p>
            <a:pPr>
              <a:lnSpc>
                <a:spcPct val="120000"/>
              </a:lnSpc>
            </a:pPr>
            <a:r>
              <a:rPr lang="en-SG" sz="1900" b="1" dirty="0"/>
              <a:t>Recommendations: </a:t>
            </a:r>
          </a:p>
          <a:p>
            <a:pPr>
              <a:lnSpc>
                <a:spcPts val="500"/>
              </a:lnSpc>
            </a:pPr>
            <a:endParaRPr lang="en-SG" sz="1900" b="1" dirty="0"/>
          </a:p>
          <a:p>
            <a:pPr marL="265113" indent="-2651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SG" sz="1700" b="1" dirty="0"/>
              <a:t>Strong</a:t>
            </a:r>
            <a:r>
              <a:rPr lang="en-SG" sz="1700" dirty="0"/>
              <a:t> indication that </a:t>
            </a:r>
            <a:r>
              <a:rPr lang="en-SG" sz="1700" b="1" dirty="0"/>
              <a:t>torque</a:t>
            </a:r>
            <a:r>
              <a:rPr lang="en-SG" sz="1700" dirty="0"/>
              <a:t>, </a:t>
            </a:r>
            <a:r>
              <a:rPr lang="en-US" sz="1700" b="1" dirty="0"/>
              <a:t>rotation</a:t>
            </a:r>
            <a:r>
              <a:rPr lang="en-US" sz="1700" dirty="0"/>
              <a:t> </a:t>
            </a:r>
            <a:r>
              <a:rPr lang="en-US" sz="1700" b="1" dirty="0"/>
              <a:t>speed</a:t>
            </a:r>
            <a:r>
              <a:rPr lang="en-US" sz="1700" dirty="0"/>
              <a:t> and </a:t>
            </a:r>
            <a:r>
              <a:rPr lang="en-US" sz="1700" b="1" dirty="0"/>
              <a:t>quality</a:t>
            </a:r>
            <a:r>
              <a:rPr lang="en-US" sz="1700" dirty="0"/>
              <a:t> affects</a:t>
            </a:r>
            <a:r>
              <a:rPr lang="en-SG" sz="1700" dirty="0"/>
              <a:t> machine faults. </a:t>
            </a:r>
          </a:p>
          <a:p>
            <a:pPr marL="265113" indent="-2651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SG" sz="1700" dirty="0"/>
              <a:t>Causality between machine faults, </a:t>
            </a:r>
            <a:r>
              <a:rPr lang="en-SG" sz="1700" b="1" dirty="0"/>
              <a:t>environmental</a:t>
            </a:r>
            <a:r>
              <a:rPr lang="en-SG" sz="1700" dirty="0"/>
              <a:t> and </a:t>
            </a:r>
            <a:r>
              <a:rPr lang="en-SG" sz="1700" b="1" dirty="0"/>
              <a:t>process</a:t>
            </a:r>
            <a:r>
              <a:rPr lang="en-SG" sz="1700" dirty="0"/>
              <a:t> temperature is unclear.</a:t>
            </a:r>
          </a:p>
          <a:p>
            <a:pPr marL="265113" indent="-2651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SG" sz="1700" dirty="0"/>
              <a:t>Further analysis on torque, rotation speed and temperature (Ambient T(C)) using box plot charts. </a:t>
            </a:r>
          </a:p>
          <a:p>
            <a:pPr>
              <a:lnSpc>
                <a:spcPct val="120000"/>
              </a:lnSpc>
            </a:pPr>
            <a:r>
              <a:rPr lang="en-SG" sz="14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324BA7-5C95-DE17-962C-7A1352D149A2}"/>
              </a:ext>
            </a:extLst>
          </p:cNvPr>
          <p:cNvSpPr txBox="1"/>
          <p:nvPr/>
        </p:nvSpPr>
        <p:spPr>
          <a:xfrm>
            <a:off x="233915" y="6355906"/>
            <a:ext cx="101434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i="1" u="sng" dirty="0"/>
              <a:t>Foot notes</a:t>
            </a:r>
          </a:p>
          <a:p>
            <a:r>
              <a:rPr lang="en-SG" sz="1000" i="1" dirty="0"/>
              <a:t>#D.  -  refers to section labels which are found at the top of the accompanying </a:t>
            </a:r>
            <a:r>
              <a:rPr lang="en-SG" sz="1000" i="1" dirty="0" err="1"/>
              <a:t>Jupyter</a:t>
            </a:r>
            <a:r>
              <a:rPr lang="en-SG" sz="1000" i="1" dirty="0"/>
              <a:t> notebook. </a:t>
            </a:r>
          </a:p>
        </p:txBody>
      </p:sp>
    </p:spTree>
    <p:extLst>
      <p:ext uri="{BB962C8B-B14F-4D97-AF65-F5344CB8AC3E}">
        <p14:creationId xmlns:p14="http://schemas.microsoft.com/office/powerpoint/2010/main" val="2245083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A1A5C-40F4-0192-74F0-9303BB070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F22057-CAFA-F41B-2D29-9F8482B87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03452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n-SG" sz="2800" b="1" dirty="0">
                <a:solidFill>
                  <a:schemeClr val="bg1"/>
                </a:solidFill>
              </a:rPr>
              <a:t>2.   Exploratory Data Analysis</a:t>
            </a:r>
          </a:p>
        </p:txBody>
      </p:sp>
      <p:pic>
        <p:nvPicPr>
          <p:cNvPr id="15" name="Picture 14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26C84BAF-994B-A158-4B2A-E0F1FB7CDF4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48" y="3567478"/>
            <a:ext cx="3348000" cy="2772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8EF15951-A3A0-88AC-27BF-30EFB480EE93}"/>
              </a:ext>
            </a:extLst>
          </p:cNvPr>
          <p:cNvSpPr txBox="1">
            <a:spLocks/>
          </p:cNvSpPr>
          <p:nvPr/>
        </p:nvSpPr>
        <p:spPr>
          <a:xfrm>
            <a:off x="7051348" y="503452"/>
            <a:ext cx="4906737" cy="6075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000" b="1" dirty="0"/>
              <a:t>#D. Exploratory Data Analysis (EDA)</a:t>
            </a:r>
          </a:p>
          <a:p>
            <a:endParaRPr lang="en-SG" sz="1400" b="1" u="sng" dirty="0"/>
          </a:p>
          <a:p>
            <a:r>
              <a:rPr lang="en-SG" sz="1600" b="1" dirty="0"/>
              <a:t>Observations</a:t>
            </a:r>
            <a:r>
              <a:rPr lang="en-SG" sz="1600" b="1" u="sng" dirty="0"/>
              <a:t>: </a:t>
            </a:r>
          </a:p>
          <a:p>
            <a:pPr>
              <a:lnSpc>
                <a:spcPts val="600"/>
              </a:lnSpc>
            </a:pPr>
            <a:endParaRPr lang="en-SG" sz="1600" b="1" u="sng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Ambient T (C):</a:t>
            </a:r>
            <a:r>
              <a:rPr lang="en-US" sz="1400" dirty="0"/>
              <a:t>  Median temp for faulty machines are higher  (~ 29 &gt; ~27); this resonates with </a:t>
            </a:r>
            <a:r>
              <a:rPr lang="en-US" sz="1400" u="sng" dirty="0"/>
              <a:t>higher temperatures</a:t>
            </a:r>
            <a:r>
              <a:rPr lang="en-US" sz="1400" dirty="0"/>
              <a:t> occurs at </a:t>
            </a:r>
            <a:r>
              <a:rPr lang="en-US" sz="1400" u="sng" dirty="0"/>
              <a:t>higher</a:t>
            </a:r>
            <a:r>
              <a:rPr lang="en-US" sz="1400" dirty="0"/>
              <a:t> </a:t>
            </a:r>
            <a:r>
              <a:rPr lang="en-US" sz="1400" u="sng" dirty="0"/>
              <a:t>rpm</a:t>
            </a:r>
            <a:r>
              <a:rPr lang="en-US" sz="1400" dirty="0"/>
              <a:t> or </a:t>
            </a:r>
            <a:r>
              <a:rPr lang="en-US" sz="1400" u="sng" dirty="0"/>
              <a:t>torque</a:t>
            </a:r>
            <a:r>
              <a:rPr lang="en-US" sz="1400" dirty="0"/>
              <a:t> that results in high thermal stress on components.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b="1" dirty="0"/>
              <a:t>Torque (Nm):</a:t>
            </a:r>
            <a:r>
              <a:rPr lang="en-SG" sz="1400" dirty="0"/>
              <a:t> </a:t>
            </a:r>
            <a:r>
              <a:rPr lang="en-US" sz="1400" dirty="0"/>
              <a:t> The interquartile range (</a:t>
            </a:r>
            <a:r>
              <a:rPr lang="en-US" sz="1400" b="1" dirty="0"/>
              <a:t>IQR</a:t>
            </a:r>
            <a:r>
              <a:rPr lang="en-US" sz="1400" dirty="0"/>
              <a:t>) and </a:t>
            </a:r>
            <a:r>
              <a:rPr lang="en-US" sz="1400" b="1" dirty="0"/>
              <a:t>median</a:t>
            </a:r>
            <a:r>
              <a:rPr lang="en-US" sz="1400" dirty="0"/>
              <a:t> </a:t>
            </a:r>
            <a:r>
              <a:rPr lang="en-US" sz="1400" b="1" dirty="0"/>
              <a:t>Nm</a:t>
            </a:r>
            <a:r>
              <a:rPr lang="en-US" sz="1400" dirty="0"/>
              <a:t> is </a:t>
            </a:r>
            <a:r>
              <a:rPr lang="en-US" sz="1400" b="1" dirty="0"/>
              <a:t>higher</a:t>
            </a:r>
            <a:r>
              <a:rPr lang="en-US" sz="1400" dirty="0"/>
              <a:t> for the faulty machines; higher faults also occurred below minimum (i.e. outliers).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Rotation Speed (rpm): </a:t>
            </a:r>
            <a:r>
              <a:rPr lang="en-US" sz="1400" dirty="0"/>
              <a:t>Contrast to torque, </a:t>
            </a:r>
            <a:r>
              <a:rPr lang="en-US" sz="1400" b="1" dirty="0"/>
              <a:t>IQR</a:t>
            </a:r>
            <a:r>
              <a:rPr lang="en-US" sz="1400" dirty="0"/>
              <a:t> and </a:t>
            </a:r>
            <a:r>
              <a:rPr lang="en-US" sz="1400" b="1" dirty="0"/>
              <a:t>median</a:t>
            </a:r>
            <a:r>
              <a:rPr lang="en-US" sz="1400" dirty="0"/>
              <a:t> </a:t>
            </a:r>
            <a:r>
              <a:rPr lang="en-US" sz="1400" b="1" dirty="0"/>
              <a:t>rpm</a:t>
            </a:r>
            <a:r>
              <a:rPr lang="en-US" sz="1400" dirty="0"/>
              <a:t> is </a:t>
            </a:r>
            <a:r>
              <a:rPr lang="en-US" sz="1400" b="1" dirty="0"/>
              <a:t>lower</a:t>
            </a:r>
            <a:r>
              <a:rPr lang="en-US" sz="1400" dirty="0"/>
              <a:t> for faulty machines; higher faults also occurred above max (i.e. outliers).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Tool Wear (min):  Median</a:t>
            </a:r>
            <a:r>
              <a:rPr lang="en-US" sz="1400" dirty="0"/>
              <a:t> tool wear min is </a:t>
            </a:r>
            <a:r>
              <a:rPr lang="en-US" sz="1400" b="1" dirty="0"/>
              <a:t>higher</a:t>
            </a:r>
            <a:r>
              <a:rPr lang="en-US" sz="1400" dirty="0"/>
              <a:t> on faulty machines (166min &gt; 107 min). Intuitively, the longer duration a tool is used results in higher wear &amp; tear and leading to fatigue and break down.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SG" sz="1200" dirty="0"/>
          </a:p>
          <a:p>
            <a:pPr>
              <a:lnSpc>
                <a:spcPct val="120000"/>
              </a:lnSpc>
            </a:pPr>
            <a:r>
              <a:rPr lang="en-SG" sz="1600" b="1" dirty="0"/>
              <a:t>Recommendations</a:t>
            </a:r>
            <a:r>
              <a:rPr lang="en-SG" sz="1400" b="1" dirty="0"/>
              <a:t>: </a:t>
            </a:r>
          </a:p>
          <a:p>
            <a:pPr marL="265113" indent="-2651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Findings above coincides with scatter plot where machine faults are likely to occurred at </a:t>
            </a:r>
            <a:r>
              <a:rPr lang="en-US" sz="1400" b="1" dirty="0"/>
              <a:t>high rpm – low torque </a:t>
            </a:r>
            <a:r>
              <a:rPr lang="en-US" sz="1400" dirty="0"/>
              <a:t>or </a:t>
            </a:r>
            <a:r>
              <a:rPr lang="en-US" sz="1400" b="1" dirty="0"/>
              <a:t>low rpm - high torque.</a:t>
            </a:r>
            <a:r>
              <a:rPr lang="en-SG" sz="1400" dirty="0"/>
              <a:t> </a:t>
            </a:r>
          </a:p>
          <a:p>
            <a:pPr marL="265113" indent="-2651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400" b="1" dirty="0"/>
              <a:t>Tool wear </a:t>
            </a:r>
            <a:r>
              <a:rPr lang="en-SG" sz="1400" dirty="0"/>
              <a:t>is also a critical factor; </a:t>
            </a:r>
            <a:r>
              <a:rPr lang="en-SG" sz="1400" b="1" dirty="0"/>
              <a:t>longer</a:t>
            </a:r>
            <a:r>
              <a:rPr lang="en-SG" sz="1400" dirty="0"/>
              <a:t> </a:t>
            </a:r>
            <a:r>
              <a:rPr lang="en-SG" sz="1400" b="1" dirty="0"/>
              <a:t>duration</a:t>
            </a:r>
            <a:r>
              <a:rPr lang="en-SG" sz="1400" dirty="0"/>
              <a:t> of tool usage results in specific fatigue and failure of components. </a:t>
            </a:r>
          </a:p>
          <a:p>
            <a:pPr marL="265113" indent="-2651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400" b="1" dirty="0"/>
              <a:t>Ambient T(C) </a:t>
            </a:r>
            <a:r>
              <a:rPr lang="en-SG" sz="1400" dirty="0"/>
              <a:t>does not clearly signal a clear relationship with machine faults; range of max and min temp for working machines are similar and little difference - to </a:t>
            </a:r>
            <a:r>
              <a:rPr lang="en-SG" sz="1400" u="sng" dirty="0"/>
              <a:t>exclude</a:t>
            </a:r>
            <a:r>
              <a:rPr lang="en-SG" sz="1400" dirty="0"/>
              <a:t> temperatures. </a:t>
            </a:r>
          </a:p>
          <a:p>
            <a:pPr marL="265113" indent="-2651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400" b="1" dirty="0"/>
              <a:t>Torque, rotation, tool wear</a:t>
            </a:r>
            <a:r>
              <a:rPr lang="en-SG" sz="1400" dirty="0"/>
              <a:t> and </a:t>
            </a:r>
            <a:r>
              <a:rPr lang="en-SG" sz="1400" b="1" dirty="0"/>
              <a:t>quality</a:t>
            </a:r>
            <a:r>
              <a:rPr lang="en-SG" sz="1400" dirty="0"/>
              <a:t> are </a:t>
            </a:r>
            <a:r>
              <a:rPr lang="en-SG" sz="1400" u="sng" dirty="0"/>
              <a:t>selected</a:t>
            </a:r>
            <a:r>
              <a:rPr lang="en-SG" sz="1400" dirty="0"/>
              <a:t> as features for modelling.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574B76-DA7D-5282-D031-0B305E5400FF}"/>
              </a:ext>
            </a:extLst>
          </p:cNvPr>
          <p:cNvSpPr txBox="1"/>
          <p:nvPr/>
        </p:nvSpPr>
        <p:spPr>
          <a:xfrm>
            <a:off x="233915" y="6355906"/>
            <a:ext cx="101434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i="1" u="sng" dirty="0"/>
              <a:t>Foot notes</a:t>
            </a:r>
          </a:p>
          <a:p>
            <a:r>
              <a:rPr lang="en-SG" sz="1000" i="1" dirty="0"/>
              <a:t>#D.  -  refers to section labels which are found at the top of the accompanying </a:t>
            </a:r>
            <a:r>
              <a:rPr lang="en-SG" sz="1000" i="1" dirty="0" err="1"/>
              <a:t>Jupyter</a:t>
            </a:r>
            <a:r>
              <a:rPr lang="en-SG" sz="1000" i="1" dirty="0"/>
              <a:t> notebook. </a:t>
            </a:r>
          </a:p>
        </p:txBody>
      </p:sp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D1813CCF-17EC-D813-DF09-2E146B355EF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6279" y="654865"/>
            <a:ext cx="3420000" cy="2761200"/>
          </a:xfrm>
          <a:prstGeom prst="rect">
            <a:avLst/>
          </a:prstGeom>
        </p:spPr>
      </p:pic>
      <p:pic>
        <p:nvPicPr>
          <p:cNvPr id="6" name="Picture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44C6CD80-6197-A72C-3ADB-A07BCCCFC09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606279" y="654865"/>
            <a:ext cx="3420000" cy="2806899"/>
          </a:xfrm>
          <a:prstGeom prst="rect">
            <a:avLst/>
          </a:prstGeom>
        </p:spPr>
      </p:pic>
      <p:pic>
        <p:nvPicPr>
          <p:cNvPr id="10" name="Picture 9" descr="A graph with black and blue lines">
            <a:extLst>
              <a:ext uri="{FF2B5EF4-FFF2-40B4-BE49-F238E27FC236}">
                <a16:creationId xmlns:a16="http://schemas.microsoft.com/office/drawing/2014/main" id="{82B1DAA3-569F-419A-9491-D385E6EB7E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479" y="3583906"/>
            <a:ext cx="3376800" cy="27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92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CD71F-0F6C-335E-8AE4-A7DF14E8A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328F693-D808-2A6C-A539-0F5D936DB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03452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n-SG" sz="2800" b="1" dirty="0">
                <a:solidFill>
                  <a:schemeClr val="bg1"/>
                </a:solidFill>
              </a:rPr>
              <a:t>3.   Data Transformation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AA1EBDC-F81D-07E4-5321-546D5144F366}"/>
              </a:ext>
            </a:extLst>
          </p:cNvPr>
          <p:cNvSpPr txBox="1">
            <a:spLocks/>
          </p:cNvSpPr>
          <p:nvPr/>
        </p:nvSpPr>
        <p:spPr>
          <a:xfrm>
            <a:off x="5699051" y="503452"/>
            <a:ext cx="6172421" cy="6046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800" b="1" dirty="0"/>
              <a:t>#</a:t>
            </a:r>
            <a:r>
              <a:rPr lang="en-SG" sz="1600" b="1" dirty="0"/>
              <a:t>E. Dummy Encoding </a:t>
            </a:r>
          </a:p>
          <a:p>
            <a:pPr>
              <a:lnSpc>
                <a:spcPts val="600"/>
              </a:lnSpc>
            </a:pPr>
            <a:endParaRPr lang="en-SG" sz="1600" b="1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SG" sz="1400" b="1" dirty="0"/>
              <a:t>Dummy encoding </a:t>
            </a:r>
            <a:r>
              <a:rPr lang="en-SG" sz="1400" dirty="0"/>
              <a:t>was applied on </a:t>
            </a:r>
            <a:r>
              <a:rPr lang="en-SG" sz="1400" b="1" dirty="0"/>
              <a:t>Quality </a:t>
            </a:r>
            <a:r>
              <a:rPr lang="en-SG" sz="1400" dirty="0"/>
              <a:t>to convert it from categorical to numerical values (i.e. </a:t>
            </a:r>
            <a:r>
              <a:rPr lang="en-SG" sz="1400" dirty="0" err="1"/>
              <a:t>Quality_L</a:t>
            </a:r>
            <a:r>
              <a:rPr lang="en-SG" sz="1400" dirty="0"/>
              <a:t>, </a:t>
            </a:r>
            <a:r>
              <a:rPr lang="en-SG" sz="1400" dirty="0" err="1"/>
              <a:t>Quality_M</a:t>
            </a:r>
            <a:r>
              <a:rPr lang="en-SG" sz="1400" dirty="0"/>
              <a:t>). 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SG" sz="1400" b="1" dirty="0"/>
              <a:t>New columns</a:t>
            </a:r>
            <a:r>
              <a:rPr lang="en-SG" sz="1400" dirty="0"/>
              <a:t> were created as abbreviations (e.g. Torque (Nm) = TRQ ) for convenience and data converted to appropriate types (e.g. float) to ensure smooth data processing to upload onto models. 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Generate final heatmap (Fig 2)</a:t>
            </a:r>
            <a:r>
              <a:rPr lang="en-SG" sz="1400" b="1" dirty="0"/>
              <a:t> </a:t>
            </a:r>
            <a:r>
              <a:rPr lang="en-SG" sz="1400" dirty="0"/>
              <a:t>with selected features to check for correlation ratios.</a:t>
            </a:r>
          </a:p>
          <a:p>
            <a:pPr>
              <a:lnSpc>
                <a:spcPct val="110000"/>
              </a:lnSpc>
            </a:pPr>
            <a:endParaRPr lang="en-SG" sz="1400" dirty="0"/>
          </a:p>
          <a:p>
            <a:pPr>
              <a:lnSpc>
                <a:spcPct val="110000"/>
              </a:lnSpc>
            </a:pPr>
            <a:r>
              <a:rPr lang="en-SG" sz="1600" b="1" dirty="0"/>
              <a:t>#F. Train - Test Split </a:t>
            </a:r>
          </a:p>
          <a:p>
            <a:pPr>
              <a:lnSpc>
                <a:spcPts val="600"/>
              </a:lnSpc>
            </a:pPr>
            <a:endParaRPr lang="en-SG" sz="1600" b="1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Used train-test split for 70 % - 30 % onto dataset, dropped non-critical columns and applied standard scale on training data with numerical values (excluding Quality).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Applied </a:t>
            </a:r>
            <a:r>
              <a:rPr lang="en-SG" sz="1400" b="1" dirty="0"/>
              <a:t>standardization</a:t>
            </a:r>
            <a:r>
              <a:rPr lang="en-SG" sz="1400" dirty="0"/>
              <a:t> on training data; test data is transformed with same columns. Standardization prevents any features with large magnitude (e.g. Rotation speed) to dominate the machine learning process and improves model reliability/performance. 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SG" sz="1600" dirty="0"/>
          </a:p>
          <a:p>
            <a:pPr>
              <a:lnSpc>
                <a:spcPct val="120000"/>
              </a:lnSpc>
            </a:pPr>
            <a:r>
              <a:rPr lang="en-SG" sz="1600" b="1" dirty="0"/>
              <a:t>#G. SMOTE (Synthetic Minority Over-sampling Technique)</a:t>
            </a:r>
          </a:p>
          <a:p>
            <a:pPr>
              <a:lnSpc>
                <a:spcPts val="600"/>
              </a:lnSpc>
            </a:pPr>
            <a:endParaRPr lang="en-SG" sz="1600" b="1" dirty="0"/>
          </a:p>
          <a:p>
            <a:pPr marL="265113" indent="-2651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To address the data class imbalance, SMOTE will be adopted to create new artificial samples of the minority class. </a:t>
            </a:r>
          </a:p>
          <a:p>
            <a:pPr marL="265113" indent="-2651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This helps to balance the minority data and improve performance of models. </a:t>
            </a:r>
          </a:p>
          <a:p>
            <a:pPr marL="265113" indent="-2651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It is observed number of </a:t>
            </a:r>
            <a:r>
              <a:rPr lang="en-SG" sz="1400" b="1" dirty="0"/>
              <a:t>rows</a:t>
            </a:r>
            <a:r>
              <a:rPr lang="en-SG" sz="1400" dirty="0"/>
              <a:t> in </a:t>
            </a:r>
            <a:r>
              <a:rPr lang="en-SG" sz="1400" b="1" dirty="0"/>
              <a:t>training</a:t>
            </a:r>
            <a:r>
              <a:rPr lang="en-SG" sz="1400" dirty="0"/>
              <a:t> </a:t>
            </a:r>
            <a:r>
              <a:rPr lang="en-SG" sz="1400" b="1" dirty="0"/>
              <a:t>data</a:t>
            </a:r>
            <a:r>
              <a:rPr lang="en-SG" sz="1400" dirty="0"/>
              <a:t> </a:t>
            </a:r>
            <a:r>
              <a:rPr lang="en-SG" sz="1400" b="1" dirty="0"/>
              <a:t>grew</a:t>
            </a:r>
            <a:r>
              <a:rPr lang="en-SG" sz="1400" dirty="0"/>
              <a:t> from 12,270 to 23,702 after SMOTE was applied. </a:t>
            </a:r>
          </a:p>
          <a:p>
            <a:pPr>
              <a:lnSpc>
                <a:spcPct val="120000"/>
              </a:lnSpc>
            </a:pPr>
            <a:endParaRPr lang="en-SG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D6F5AA-35B1-28B0-0382-D2C70E2D0DDB}"/>
              </a:ext>
            </a:extLst>
          </p:cNvPr>
          <p:cNvSpPr txBox="1"/>
          <p:nvPr/>
        </p:nvSpPr>
        <p:spPr>
          <a:xfrm>
            <a:off x="233915" y="6355906"/>
            <a:ext cx="101434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i="1" u="sng" dirty="0"/>
              <a:t>Foot notes</a:t>
            </a:r>
          </a:p>
          <a:p>
            <a:r>
              <a:rPr lang="en-SG" sz="1000" i="1" dirty="0"/>
              <a:t>#E. #F. #G.  -  refers to section labels which are found at the top of the accompanying </a:t>
            </a:r>
            <a:r>
              <a:rPr lang="en-SG" sz="1000" i="1" dirty="0" err="1"/>
              <a:t>Jupyter</a:t>
            </a:r>
            <a:r>
              <a:rPr lang="en-SG" sz="1000" i="1" dirty="0"/>
              <a:t> notebook. </a:t>
            </a:r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B40DAC6E-3D3B-E3F8-B5F9-690454862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688"/>
            <a:ext cx="5368113" cy="45303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648790-D8B5-8F04-C894-41CE72F53E7A}"/>
              </a:ext>
            </a:extLst>
          </p:cNvPr>
          <p:cNvSpPr txBox="1"/>
          <p:nvPr/>
        </p:nvSpPr>
        <p:spPr>
          <a:xfrm>
            <a:off x="453878" y="5462063"/>
            <a:ext cx="21403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i="1" dirty="0"/>
              <a:t>Fig 2 Correlation heatmap (final)</a:t>
            </a:r>
          </a:p>
        </p:txBody>
      </p:sp>
    </p:spTree>
    <p:extLst>
      <p:ext uri="{BB962C8B-B14F-4D97-AF65-F5344CB8AC3E}">
        <p14:creationId xmlns:p14="http://schemas.microsoft.com/office/powerpoint/2010/main" val="1155234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625EE-2FB4-3546-1A61-519A7C566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BD94A676-8419-4687-AA24-7B4514708D40}"/>
              </a:ext>
            </a:extLst>
          </p:cNvPr>
          <p:cNvSpPr txBox="1">
            <a:spLocks/>
          </p:cNvSpPr>
          <p:nvPr/>
        </p:nvSpPr>
        <p:spPr>
          <a:xfrm>
            <a:off x="401160" y="3354569"/>
            <a:ext cx="11631761" cy="3211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300" b="1" dirty="0"/>
              <a:t>Comments: </a:t>
            </a:r>
          </a:p>
          <a:p>
            <a:pPr>
              <a:lnSpc>
                <a:spcPts val="400"/>
              </a:lnSpc>
            </a:pPr>
            <a:endParaRPr lang="en-SG" sz="1400" b="1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200" dirty="0"/>
              <a:t>3  classification learning algorithms  (Logistic Regression, KNN and Decision Tree) were used. 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200" dirty="0"/>
              <a:t>The approach is to first use a base learning algorithm, followed by improving the model by techniques regularization, tuned hyperparameters and SMOTE. 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200" dirty="0"/>
              <a:t>The </a:t>
            </a:r>
            <a:r>
              <a:rPr lang="en-SG" sz="1200" b="1" dirty="0"/>
              <a:t>desired output </a:t>
            </a:r>
            <a:r>
              <a:rPr lang="en-SG" sz="1200" dirty="0"/>
              <a:t>is to detect if a machine is faulty; the metrics above evaluates if a machine is </a:t>
            </a:r>
            <a:r>
              <a:rPr lang="en-SG" sz="1200" b="1" dirty="0"/>
              <a:t>faulty</a:t>
            </a:r>
            <a:r>
              <a:rPr lang="en-SG" sz="1200" dirty="0"/>
              <a:t> (i.e. machine status =1). </a:t>
            </a:r>
          </a:p>
          <a:p>
            <a:pPr marL="180975" indent="-180975">
              <a:lnSpc>
                <a:spcPct val="120000"/>
              </a:lnSpc>
            </a:pPr>
            <a:r>
              <a:rPr lang="en-SG" sz="1200" dirty="0"/>
              <a:t>      For example, under KNN, out of </a:t>
            </a:r>
            <a:r>
              <a:rPr lang="en-SG" sz="1200"/>
              <a:t>all machines predicted as </a:t>
            </a:r>
            <a:r>
              <a:rPr lang="en-SG" sz="1200" dirty="0"/>
              <a:t>faulty, </a:t>
            </a:r>
            <a:r>
              <a:rPr lang="en-SG" sz="1200" b="1" dirty="0"/>
              <a:t>84.5% (Precision, high) </a:t>
            </a:r>
            <a:r>
              <a:rPr lang="en-SG" sz="1200" dirty="0"/>
              <a:t>were actually faulty.  But, it only detected </a:t>
            </a:r>
            <a:r>
              <a:rPr lang="en-SG" sz="1200" b="1" dirty="0"/>
              <a:t>40.8% (Recall, weak - moderate) </a:t>
            </a:r>
          </a:p>
          <a:p>
            <a:pPr marL="180975" indent="-180975">
              <a:lnSpc>
                <a:spcPts val="1800"/>
              </a:lnSpc>
            </a:pPr>
            <a:r>
              <a:rPr lang="en-SG" sz="1200" b="1" dirty="0"/>
              <a:t>      </a:t>
            </a:r>
            <a:r>
              <a:rPr lang="en-SG" sz="1200" dirty="0"/>
              <a:t>of </a:t>
            </a:r>
            <a:r>
              <a:rPr lang="en-SG" sz="1200" u="sng" dirty="0"/>
              <a:t>total</a:t>
            </a:r>
            <a:r>
              <a:rPr lang="en-SG" sz="1200" dirty="0"/>
              <a:t> faulty machines in the testing.  </a:t>
            </a:r>
          </a:p>
          <a:p>
            <a:pPr marL="180975" indent="-180975">
              <a:lnSpc>
                <a:spcPts val="1800"/>
              </a:lnSpc>
            </a:pPr>
            <a:r>
              <a:rPr lang="en-SG" sz="1300" b="1" dirty="0"/>
              <a:t>Recommendations:</a:t>
            </a: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SG" sz="1200" b="1" dirty="0"/>
              <a:t>Recall</a:t>
            </a:r>
            <a:r>
              <a:rPr lang="en-SG" sz="1200" dirty="0"/>
              <a:t> is the </a:t>
            </a:r>
            <a:r>
              <a:rPr lang="en-SG" sz="1200" b="1" dirty="0"/>
              <a:t>primary</a:t>
            </a:r>
            <a:r>
              <a:rPr lang="en-SG" sz="1200" dirty="0"/>
              <a:t> priority;  it enables us to correctly screen for faulty machines. </a:t>
            </a:r>
            <a:r>
              <a:rPr lang="en-SG" sz="1200" u="sng" dirty="0"/>
              <a:t>Higher recall </a:t>
            </a:r>
            <a:r>
              <a:rPr lang="en-SG" sz="1200" dirty="0"/>
              <a:t>means </a:t>
            </a:r>
            <a:r>
              <a:rPr lang="en-SG" sz="1200" u="sng" dirty="0"/>
              <a:t>fewer false negatives </a:t>
            </a:r>
            <a:r>
              <a:rPr lang="en-SG" sz="1200" dirty="0"/>
              <a:t>or missed faulty machines.</a:t>
            </a: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SG" sz="1200" b="1" dirty="0"/>
              <a:t>Precision</a:t>
            </a:r>
            <a:r>
              <a:rPr lang="en-SG" sz="1200" dirty="0"/>
              <a:t> will be </a:t>
            </a:r>
            <a:r>
              <a:rPr lang="en-SG" sz="1200" b="1" dirty="0"/>
              <a:t>second</a:t>
            </a:r>
            <a:r>
              <a:rPr lang="en-SG" sz="1200" dirty="0"/>
              <a:t> priority; higher false positives generated by Precision is acceptable, it can be sorted out with follow up checks by technicians. </a:t>
            </a:r>
          </a:p>
          <a:p>
            <a:pPr>
              <a:lnSpc>
                <a:spcPct val="120000"/>
              </a:lnSpc>
            </a:pPr>
            <a:r>
              <a:rPr lang="en-SG" sz="1300" b="1" dirty="0"/>
              <a:t>[ Conclusion ]</a:t>
            </a:r>
            <a:endParaRPr lang="en-SG" sz="1300" dirty="0"/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SG" sz="1200" dirty="0"/>
              <a:t>Although </a:t>
            </a:r>
            <a:r>
              <a:rPr lang="en-SG" sz="1200" u="sng" dirty="0"/>
              <a:t>Decision Tree (SMOTE) </a:t>
            </a:r>
            <a:r>
              <a:rPr lang="en-SG" sz="1200" dirty="0"/>
              <a:t>has the </a:t>
            </a:r>
            <a:r>
              <a:rPr lang="en-SG" sz="1200" u="sng" dirty="0"/>
              <a:t>highest recall</a:t>
            </a:r>
            <a:r>
              <a:rPr lang="en-SG" sz="1200" dirty="0"/>
              <a:t> score at </a:t>
            </a:r>
            <a:r>
              <a:rPr lang="en-SG" sz="1200" u="sng" dirty="0"/>
              <a:t>91.4%</a:t>
            </a:r>
            <a:r>
              <a:rPr lang="en-SG" sz="1200" dirty="0"/>
              <a:t>, it has a </a:t>
            </a:r>
            <a:r>
              <a:rPr lang="en-SG" sz="1200" u="sng" dirty="0"/>
              <a:t>low precision</a:t>
            </a:r>
            <a:r>
              <a:rPr lang="en-SG" sz="1200" dirty="0"/>
              <a:t> of </a:t>
            </a:r>
            <a:r>
              <a:rPr lang="en-SG" sz="1200" u="sng" dirty="0"/>
              <a:t>18.1%</a:t>
            </a:r>
            <a:r>
              <a:rPr lang="en-SG" sz="1200" dirty="0"/>
              <a:t>. This indicate the model would likely classify a larger number of working machines falsely as faulty (false positive).  Comparatively, </a:t>
            </a:r>
            <a:r>
              <a:rPr lang="en-SG" sz="1200" b="1" u="sng" dirty="0"/>
              <a:t>KNN (SMOTE)</a:t>
            </a:r>
            <a:r>
              <a:rPr lang="en-SG" sz="1200" dirty="0"/>
              <a:t> has second highest </a:t>
            </a:r>
            <a:r>
              <a:rPr lang="en-SG" sz="1200" b="1" dirty="0"/>
              <a:t>recall</a:t>
            </a:r>
            <a:r>
              <a:rPr lang="en-SG" sz="1200" dirty="0"/>
              <a:t> at </a:t>
            </a:r>
            <a:r>
              <a:rPr lang="en-SG" sz="1200" b="1" u="sng" dirty="0"/>
              <a:t>87.4%</a:t>
            </a:r>
            <a:r>
              <a:rPr lang="en-SG" sz="1200" dirty="0"/>
              <a:t> and a higher </a:t>
            </a:r>
            <a:r>
              <a:rPr lang="en-SG" sz="1200" b="1" dirty="0"/>
              <a:t>precision</a:t>
            </a:r>
            <a:r>
              <a:rPr lang="en-SG" sz="1200" dirty="0"/>
              <a:t> of </a:t>
            </a:r>
            <a:r>
              <a:rPr lang="en-SG" sz="1200" b="1" u="sng" dirty="0"/>
              <a:t>32.3%.</a:t>
            </a:r>
            <a:r>
              <a:rPr lang="en-SG" sz="1200" dirty="0"/>
              <a:t>   </a:t>
            </a: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SG" sz="1200" b="1" dirty="0"/>
              <a:t>KNN (SMOTE) </a:t>
            </a:r>
            <a:r>
              <a:rPr lang="en-SG" sz="1200" dirty="0"/>
              <a:t>will be the more efficient model to use to detect machine faults.  </a:t>
            </a:r>
          </a:p>
        </p:txBody>
      </p:sp>
      <p:sp>
        <p:nvSpPr>
          <p:cNvPr id="12" name="Title 7">
            <a:extLst>
              <a:ext uri="{FF2B5EF4-FFF2-40B4-BE49-F238E27FC236}">
                <a16:creationId xmlns:a16="http://schemas.microsoft.com/office/drawing/2014/main" id="{587B0AF2-3484-081A-BAF6-0FAFE85E9301}"/>
              </a:ext>
            </a:extLst>
          </p:cNvPr>
          <p:cNvSpPr txBox="1">
            <a:spLocks/>
          </p:cNvSpPr>
          <p:nvPr/>
        </p:nvSpPr>
        <p:spPr>
          <a:xfrm>
            <a:off x="0" y="-2779"/>
            <a:ext cx="12192000" cy="50345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800" b="1" dirty="0">
                <a:solidFill>
                  <a:schemeClr val="bg1"/>
                </a:solidFill>
              </a:rPr>
              <a:t> 4. Model Evaluation (Confusion Matrix)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1B9BCA-7C42-4D5B-B2CF-E707C36F0BC0}"/>
              </a:ext>
            </a:extLst>
          </p:cNvPr>
          <p:cNvSpPr txBox="1"/>
          <p:nvPr/>
        </p:nvSpPr>
        <p:spPr>
          <a:xfrm>
            <a:off x="418730" y="6527566"/>
            <a:ext cx="10143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i="1" u="sng" dirty="0"/>
              <a:t>Foot notes</a:t>
            </a:r>
          </a:p>
          <a:p>
            <a:r>
              <a:rPr lang="en-SG" sz="900" i="1" dirty="0"/>
              <a:t>#H. #I. #J.  -  refers to section labels which are found at the top of the accompanying </a:t>
            </a:r>
            <a:r>
              <a:rPr lang="en-SG" sz="900" i="1" dirty="0" err="1"/>
              <a:t>Jupyter</a:t>
            </a:r>
            <a:r>
              <a:rPr lang="en-SG" sz="900" i="1" dirty="0"/>
              <a:t> notebook.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B9C95B-2E21-6365-90FD-F0D77A96153C}"/>
              </a:ext>
            </a:extLst>
          </p:cNvPr>
          <p:cNvSpPr txBox="1"/>
          <p:nvPr/>
        </p:nvSpPr>
        <p:spPr>
          <a:xfrm>
            <a:off x="440945" y="2949006"/>
            <a:ext cx="7097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/>
              <a:t>*   Ridge regression; hyper parameter tuned was C ; best C was 0.5. </a:t>
            </a:r>
          </a:p>
          <a:p>
            <a:r>
              <a:rPr lang="en-SG" sz="900" dirty="0"/>
              <a:t>^   Hyper parameter tuned was criterion = entropy, max depth =7, min samples leaf=1.</a:t>
            </a:r>
          </a:p>
          <a:p>
            <a:r>
              <a:rPr lang="en-SG" sz="900" dirty="0"/>
              <a:t>+   Hyper parameter tuned was criterion = entropy, max depth =7, min samples split=2, min samples leaf=1.</a:t>
            </a:r>
          </a:p>
          <a:p>
            <a:endParaRPr lang="en-SG" sz="9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B1E763-DA13-BD1B-5B6C-475DF501809F}"/>
              </a:ext>
            </a:extLst>
          </p:cNvPr>
          <p:cNvGrpSpPr/>
          <p:nvPr/>
        </p:nvGrpSpPr>
        <p:grpSpPr>
          <a:xfrm>
            <a:off x="430312" y="526485"/>
            <a:ext cx="8074838" cy="2561380"/>
            <a:chOff x="430312" y="526485"/>
            <a:chExt cx="8369003" cy="2636649"/>
          </a:xfrm>
        </p:grpSpPr>
        <p:pic>
          <p:nvPicPr>
            <p:cNvPr id="9" name="Picture 8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805D274C-B0E3-AF98-ABD1-0BB68C4F3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0312" y="526485"/>
              <a:ext cx="8369003" cy="2531062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1CB650E-0139-BAAC-0A5B-05F511DAF845}"/>
                </a:ext>
              </a:extLst>
            </p:cNvPr>
            <p:cNvSpPr/>
            <p:nvPr/>
          </p:nvSpPr>
          <p:spPr>
            <a:xfrm>
              <a:off x="5203937" y="798633"/>
              <a:ext cx="914400" cy="236450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BBFD996-BC1E-9FCB-8649-48B0769434F0}"/>
              </a:ext>
            </a:extLst>
          </p:cNvPr>
          <p:cNvSpPr txBox="1"/>
          <p:nvPr/>
        </p:nvSpPr>
        <p:spPr>
          <a:xfrm>
            <a:off x="3115340" y="1158949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FB170E-0917-4851-3F6C-0A75125E1EB2}"/>
              </a:ext>
            </a:extLst>
          </p:cNvPr>
          <p:cNvSpPr txBox="1"/>
          <p:nvPr/>
        </p:nvSpPr>
        <p:spPr>
          <a:xfrm>
            <a:off x="7616458" y="1116415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dirty="0">
                <a:solidFill>
                  <a:schemeClr val="bg1"/>
                </a:solidFill>
              </a:rPr>
              <a:t>^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E51917-B722-94C9-43A7-22E8E33F034D}"/>
              </a:ext>
            </a:extLst>
          </p:cNvPr>
          <p:cNvSpPr txBox="1"/>
          <p:nvPr/>
        </p:nvSpPr>
        <p:spPr>
          <a:xfrm>
            <a:off x="8729903" y="1148315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dirty="0">
                <a:solidFill>
                  <a:schemeClr val="bg1"/>
                </a:solidFill>
              </a:rPr>
              <a:t>^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1D3FEB-2F81-962A-35B9-67F313246CA1}"/>
              </a:ext>
            </a:extLst>
          </p:cNvPr>
          <p:cNvSpPr txBox="1"/>
          <p:nvPr/>
        </p:nvSpPr>
        <p:spPr>
          <a:xfrm>
            <a:off x="8505150" y="1087101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dirty="0">
                <a:solidFill>
                  <a:schemeClr val="bg1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354389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A89B8-5DBE-6F64-1066-73B36DC33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Figures of houses in different position and sizes">
            <a:extLst>
              <a:ext uri="{FF2B5EF4-FFF2-40B4-BE49-F238E27FC236}">
                <a16:creationId xmlns:a16="http://schemas.microsoft.com/office/drawing/2014/main" id="{91F8A5F6-5570-0C14-7EC7-7100591A8C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7" b="16393"/>
          <a:stretch/>
        </p:blipFill>
        <p:spPr>
          <a:xfrm>
            <a:off x="20" y="10"/>
            <a:ext cx="12191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A67727-42AB-E671-5947-813B7309EB78}"/>
              </a:ext>
            </a:extLst>
          </p:cNvPr>
          <p:cNvSpPr txBox="1">
            <a:spLocks/>
          </p:cNvSpPr>
          <p:nvPr/>
        </p:nvSpPr>
        <p:spPr>
          <a:xfrm>
            <a:off x="323742" y="5631808"/>
            <a:ext cx="10870284" cy="75221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Part B: Regression - House Sales Prices for King County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D457E-E54A-49CD-55E7-5D5EEC138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27" y="654618"/>
            <a:ext cx="5452529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5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5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029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536198-3581-3562-9AF8-CFA10872B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81D7F96-CC44-B829-CFBE-A9BAE9243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22" y="365834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u="sng" dirty="0">
                <a:solidFill>
                  <a:srgbClr val="FFFFFF"/>
                </a:solidFill>
              </a:rPr>
              <a:t>Objectives and Outline: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3" name="Title 1">
            <a:extLst>
              <a:ext uri="{FF2B5EF4-FFF2-40B4-BE49-F238E27FC236}">
                <a16:creationId xmlns:a16="http://schemas.microsoft.com/office/drawing/2014/main" id="{B05B6212-771F-AAB6-53B5-6505EC766A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1365406"/>
              </p:ext>
            </p:extLst>
          </p:nvPr>
        </p:nvGraphicFramePr>
        <p:xfrm>
          <a:off x="14294" y="1609397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5730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F859C-1816-F2F6-2AF5-C17C5C977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0F83924-0A76-0F51-2EB1-26051E6F9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711201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n-SG" sz="2800" b="1" dirty="0">
                <a:solidFill>
                  <a:schemeClr val="bg1"/>
                </a:solidFill>
              </a:rPr>
              <a:t>1.   Data Preprocessing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04087-F839-27D0-4504-24882E5701E6}"/>
              </a:ext>
            </a:extLst>
          </p:cNvPr>
          <p:cNvSpPr txBox="1">
            <a:spLocks/>
          </p:cNvSpPr>
          <p:nvPr/>
        </p:nvSpPr>
        <p:spPr>
          <a:xfrm>
            <a:off x="443019" y="4359349"/>
            <a:ext cx="11040141" cy="225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600" b="1" dirty="0"/>
              <a:t>#A. Data Cleaning </a:t>
            </a:r>
          </a:p>
          <a:p>
            <a:pPr>
              <a:lnSpc>
                <a:spcPts val="700"/>
              </a:lnSpc>
            </a:pPr>
            <a:endParaRPr lang="en-SG" sz="1600" b="1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Verified there are no missing values; dropped unrequired columns (e.g. id, date) for preliminary cleaning.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Generate data summary: a wide range of values suggested outliers (e.g. bedrooms) and will investigate further in EDA.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SG" sz="1100" b="1" dirty="0"/>
          </a:p>
          <a:p>
            <a:pPr>
              <a:lnSpc>
                <a:spcPct val="110000"/>
              </a:lnSpc>
            </a:pPr>
            <a:r>
              <a:rPr lang="en-SG" sz="1600" b="1" dirty="0"/>
              <a:t>#B. Data Curation </a:t>
            </a:r>
          </a:p>
          <a:p>
            <a:pPr>
              <a:lnSpc>
                <a:spcPts val="800"/>
              </a:lnSpc>
            </a:pPr>
            <a:endParaRPr lang="en-SG" sz="1600" b="1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Identify and study characteristics of columns of interest e.g. view, grade.</a:t>
            </a:r>
            <a:endParaRPr lang="en-SG" sz="1400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Preliminary review found prices are rightly skewed (Fig 1); to </a:t>
            </a:r>
            <a:r>
              <a:rPr lang="en-SG" sz="1400" b="1" dirty="0"/>
              <a:t>log prices</a:t>
            </a:r>
            <a:r>
              <a:rPr lang="en-SG" sz="1400" dirty="0"/>
              <a:t> to achieve normal distribution on y-variable (Fig 2).</a:t>
            </a:r>
            <a:endParaRPr lang="en-SG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28CE0E-D254-A3EF-C581-897BF2538F91}"/>
              </a:ext>
            </a:extLst>
          </p:cNvPr>
          <p:cNvSpPr txBox="1"/>
          <p:nvPr/>
        </p:nvSpPr>
        <p:spPr>
          <a:xfrm>
            <a:off x="606062" y="6430337"/>
            <a:ext cx="101434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i="1" u="sng" dirty="0"/>
              <a:t>Foot notes</a:t>
            </a:r>
          </a:p>
          <a:p>
            <a:r>
              <a:rPr lang="en-SG" sz="1000" i="1" dirty="0"/>
              <a:t>#A. #B.   -  refers to section labels which are found at the top of the accompanying </a:t>
            </a:r>
            <a:r>
              <a:rPr lang="en-SG" sz="1000" i="1" dirty="0" err="1"/>
              <a:t>Jupyter</a:t>
            </a:r>
            <a:r>
              <a:rPr lang="en-SG" sz="1000" i="1" dirty="0"/>
              <a:t> notebook. </a:t>
            </a:r>
          </a:p>
        </p:txBody>
      </p:sp>
      <p:pic>
        <p:nvPicPr>
          <p:cNvPr id="10" name="Picture 9" descr="A graph of a house price&#10;&#10;AI-generated content may be incorrect.">
            <a:extLst>
              <a:ext uri="{FF2B5EF4-FFF2-40B4-BE49-F238E27FC236}">
                <a16:creationId xmlns:a16="http://schemas.microsoft.com/office/drawing/2014/main" id="{6B6414E9-2888-FBE2-1240-C4B723970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31" y="803613"/>
            <a:ext cx="4927537" cy="3528000"/>
          </a:xfrm>
          <a:prstGeom prst="rect">
            <a:avLst/>
          </a:prstGeom>
        </p:spPr>
      </p:pic>
      <p:pic>
        <p:nvPicPr>
          <p:cNvPr id="12" name="Picture 11" descr="A graph of a house&#10;&#10;AI-generated content may be incorrect.">
            <a:extLst>
              <a:ext uri="{FF2B5EF4-FFF2-40B4-BE49-F238E27FC236}">
                <a16:creationId xmlns:a16="http://schemas.microsoft.com/office/drawing/2014/main" id="{2FC8677A-868C-47D3-0A93-9BACFDC01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033" y="713178"/>
            <a:ext cx="4533866" cy="35844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B82229D-0269-A52C-7ACB-7A238D99111E}"/>
              </a:ext>
            </a:extLst>
          </p:cNvPr>
          <p:cNvSpPr txBox="1"/>
          <p:nvPr/>
        </p:nvSpPr>
        <p:spPr>
          <a:xfrm>
            <a:off x="1612609" y="4246549"/>
            <a:ext cx="2287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dirty="0"/>
              <a:t>Fig 1 Price distribution chart (Original)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D7F0AA-254F-C71E-261D-ABBE8E4187DF}"/>
              </a:ext>
            </a:extLst>
          </p:cNvPr>
          <p:cNvSpPr txBox="1"/>
          <p:nvPr/>
        </p:nvSpPr>
        <p:spPr>
          <a:xfrm>
            <a:off x="6684888" y="4280855"/>
            <a:ext cx="2419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dirty="0"/>
              <a:t>Fig 2 Price distribution chart (Log prices) </a:t>
            </a:r>
          </a:p>
        </p:txBody>
      </p:sp>
    </p:spTree>
    <p:extLst>
      <p:ext uri="{BB962C8B-B14F-4D97-AF65-F5344CB8AC3E}">
        <p14:creationId xmlns:p14="http://schemas.microsoft.com/office/powerpoint/2010/main" val="40684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A2413-BC36-4278-BBC3-E52AE891D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B57D255-29AD-AB05-7A2A-A21907DE8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03452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n-SG" sz="2800" b="1" dirty="0">
                <a:solidFill>
                  <a:schemeClr val="bg1"/>
                </a:solidFill>
              </a:rPr>
              <a:t>2.  Features Selection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4DBE4F1-76E2-66B8-97FE-680DE070DECF}"/>
              </a:ext>
            </a:extLst>
          </p:cNvPr>
          <p:cNvSpPr txBox="1">
            <a:spLocks/>
          </p:cNvSpPr>
          <p:nvPr/>
        </p:nvSpPr>
        <p:spPr>
          <a:xfrm>
            <a:off x="4722093" y="539794"/>
            <a:ext cx="6994985" cy="5957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SG" sz="1900" b="1" dirty="0"/>
              <a:t>#C. Features Selection</a:t>
            </a:r>
          </a:p>
          <a:p>
            <a:pPr>
              <a:lnSpc>
                <a:spcPct val="110000"/>
              </a:lnSpc>
            </a:pPr>
            <a:endParaRPr lang="en-SG" sz="1800" b="1" dirty="0"/>
          </a:p>
          <a:p>
            <a:pPr>
              <a:lnSpc>
                <a:spcPct val="110000"/>
              </a:lnSpc>
            </a:pPr>
            <a:r>
              <a:rPr lang="en-SG" sz="1800" b="1" dirty="0"/>
              <a:t>Problem: </a:t>
            </a:r>
          </a:p>
          <a:p>
            <a:pPr>
              <a:lnSpc>
                <a:spcPts val="600"/>
              </a:lnSpc>
            </a:pPr>
            <a:endParaRPr lang="en-SG" sz="1800" b="1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800" dirty="0"/>
              <a:t>There are </a:t>
            </a:r>
            <a:r>
              <a:rPr lang="en-SG" sz="1800" u="sng" dirty="0"/>
              <a:t>too</a:t>
            </a:r>
            <a:r>
              <a:rPr lang="en-SG" sz="1800" dirty="0"/>
              <a:t> many features in the dataset, we have to methodologically reduce and sieve for critical features. </a:t>
            </a:r>
          </a:p>
          <a:p>
            <a:pPr>
              <a:lnSpc>
                <a:spcPct val="110000"/>
              </a:lnSpc>
            </a:pPr>
            <a:endParaRPr lang="en-SG" sz="1800" dirty="0"/>
          </a:p>
          <a:p>
            <a:pPr>
              <a:lnSpc>
                <a:spcPct val="110000"/>
              </a:lnSpc>
            </a:pPr>
            <a:r>
              <a:rPr lang="en-SG" sz="1800" b="1" dirty="0"/>
              <a:t>Approach:</a:t>
            </a:r>
          </a:p>
          <a:p>
            <a:pPr>
              <a:lnSpc>
                <a:spcPts val="700"/>
              </a:lnSpc>
            </a:pPr>
            <a:endParaRPr lang="en-SG" sz="1800" b="1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800" dirty="0"/>
              <a:t>Create correlation heatmap for all features; next dropped metrics with </a:t>
            </a:r>
            <a:r>
              <a:rPr lang="en-SG" sz="1800" u="sng" dirty="0"/>
              <a:t>weak</a:t>
            </a:r>
            <a:r>
              <a:rPr lang="en-SG" sz="1800" dirty="0"/>
              <a:t> </a:t>
            </a:r>
            <a:r>
              <a:rPr lang="en-SG" sz="1800" u="sng" dirty="0"/>
              <a:t>correlation ratios (&gt; 0.2) </a:t>
            </a:r>
            <a:r>
              <a:rPr lang="en-SG" sz="1800" dirty="0"/>
              <a:t>to log price. </a:t>
            </a:r>
            <a:endParaRPr lang="en-US" sz="1800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Identify features which belongs in a </a:t>
            </a:r>
            <a:r>
              <a:rPr lang="en-US" sz="1800" b="1" dirty="0"/>
              <a:t>similar category</a:t>
            </a:r>
            <a:r>
              <a:rPr lang="en-US" sz="1800" dirty="0"/>
              <a:t> or appears to exhibit strong collinearity e.g. </a:t>
            </a:r>
            <a:r>
              <a:rPr lang="en-US" sz="1800" dirty="0" err="1"/>
              <a:t>i</a:t>
            </a:r>
            <a:r>
              <a:rPr lang="en-US" sz="1800" dirty="0"/>
              <a:t>) </a:t>
            </a:r>
            <a:r>
              <a:rPr lang="en-US" sz="1800" b="1" dirty="0"/>
              <a:t>Location</a:t>
            </a:r>
            <a:r>
              <a:rPr lang="en-US" sz="1800" dirty="0"/>
              <a:t>: </a:t>
            </a:r>
            <a:r>
              <a:rPr lang="en-US" sz="1800" dirty="0" err="1"/>
              <a:t>zipcode</a:t>
            </a:r>
            <a:r>
              <a:rPr lang="en-US" sz="1800" dirty="0"/>
              <a:t>, </a:t>
            </a:r>
            <a:r>
              <a:rPr lang="en-US" sz="1800" dirty="0" err="1"/>
              <a:t>lat</a:t>
            </a:r>
            <a:r>
              <a:rPr lang="en-US" sz="1800" dirty="0"/>
              <a:t>, view </a:t>
            </a:r>
            <a:r>
              <a:rPr lang="en-US" sz="1800" dirty="0" err="1"/>
              <a:t>etc</a:t>
            </a:r>
            <a:r>
              <a:rPr lang="en-US" sz="1800" dirty="0"/>
              <a:t> or ii) </a:t>
            </a:r>
            <a:r>
              <a:rPr lang="en-US" sz="1800" b="1" dirty="0"/>
              <a:t>Size</a:t>
            </a:r>
            <a:r>
              <a:rPr lang="en-US" sz="1800" dirty="0"/>
              <a:t>: </a:t>
            </a:r>
            <a:r>
              <a:rPr lang="en-US" sz="1800" dirty="0" err="1"/>
              <a:t>sqft_living</a:t>
            </a:r>
            <a:r>
              <a:rPr lang="en-US" sz="1800" dirty="0"/>
              <a:t>, </a:t>
            </a:r>
            <a:r>
              <a:rPr lang="en-US" sz="1800" dirty="0" err="1"/>
              <a:t>sqft_above</a:t>
            </a:r>
            <a:r>
              <a:rPr lang="en-US" sz="1800" dirty="0"/>
              <a:t> etc.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Retain 1 - 2 features of similar category to manage model complexity </a:t>
            </a:r>
            <a:r>
              <a:rPr lang="en-US" sz="1800" dirty="0" err="1"/>
              <a:t>e.g</a:t>
            </a:r>
            <a:r>
              <a:rPr lang="en-US" sz="1800" dirty="0"/>
              <a:t> </a:t>
            </a:r>
            <a:r>
              <a:rPr lang="en-US" sz="1800" dirty="0" err="1"/>
              <a:t>sqft</a:t>
            </a:r>
            <a:r>
              <a:rPr lang="en-US" sz="1800" dirty="0"/>
              <a:t> features exhibited strong collinearity, selected </a:t>
            </a:r>
            <a:r>
              <a:rPr lang="en-US" sz="1800" u="sng" dirty="0"/>
              <a:t>only</a:t>
            </a:r>
            <a:r>
              <a:rPr lang="en-US" sz="1800" dirty="0"/>
              <a:t> “</a:t>
            </a:r>
            <a:r>
              <a:rPr lang="en-US" sz="1800" dirty="0" err="1"/>
              <a:t>sqft_living</a:t>
            </a:r>
            <a:r>
              <a:rPr lang="en-US" sz="1800" dirty="0"/>
              <a:t>” (0.7) as the most critical.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Create a second heatmap (Fig 3) without log price to examine collinearity.</a:t>
            </a:r>
          </a:p>
          <a:p>
            <a:pPr>
              <a:lnSpc>
                <a:spcPct val="110000"/>
              </a:lnSpc>
            </a:pPr>
            <a:endParaRPr lang="en-US" sz="1800" dirty="0"/>
          </a:p>
          <a:p>
            <a:pPr>
              <a:lnSpc>
                <a:spcPct val="110000"/>
              </a:lnSpc>
            </a:pPr>
            <a:r>
              <a:rPr lang="en-SG" sz="1800" b="1" dirty="0"/>
              <a:t>Observations: </a:t>
            </a:r>
          </a:p>
          <a:p>
            <a:pPr>
              <a:lnSpc>
                <a:spcPts val="600"/>
              </a:lnSpc>
            </a:pPr>
            <a:endParaRPr lang="en-SG" sz="1800" b="1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700" dirty="0"/>
              <a:t>Bathrooms, bedrooms and floors belong the same category: house components. 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Bathrooms and </a:t>
            </a:r>
            <a:r>
              <a:rPr lang="en-US" sz="1700" dirty="0" err="1"/>
              <a:t>sqft_living</a:t>
            </a:r>
            <a:r>
              <a:rPr lang="en-US" sz="1700" dirty="0"/>
              <a:t> have </a:t>
            </a:r>
            <a:r>
              <a:rPr lang="en-SG" sz="1700" dirty="0"/>
              <a:t>stronger </a:t>
            </a:r>
            <a:r>
              <a:rPr lang="en-US" sz="1700" dirty="0"/>
              <a:t>collinearity compared to bedrooms (0.75 vs 0.58); Floors have a lower ratio 0.31 to log price.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700" dirty="0"/>
              <a:t>Dropped bathrooms and floors; only select bedrooms. </a:t>
            </a:r>
            <a:endParaRPr lang="en-US" sz="1700" dirty="0"/>
          </a:p>
          <a:p>
            <a:pPr>
              <a:lnSpc>
                <a:spcPct val="120000"/>
              </a:lnSpc>
            </a:pPr>
            <a:endParaRPr lang="en-SG" sz="1800" b="1" dirty="0"/>
          </a:p>
          <a:p>
            <a:pPr>
              <a:lnSpc>
                <a:spcPct val="120000"/>
              </a:lnSpc>
            </a:pPr>
            <a:r>
              <a:rPr lang="en-SG" sz="1800" b="1" dirty="0"/>
              <a:t>Recommendations: </a:t>
            </a:r>
          </a:p>
          <a:p>
            <a:pPr>
              <a:lnSpc>
                <a:spcPts val="700"/>
              </a:lnSpc>
            </a:pPr>
            <a:endParaRPr lang="en-SG" sz="1800" b="1" dirty="0"/>
          </a:p>
          <a:p>
            <a:pPr marL="265113" indent="-2651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800" b="1" dirty="0"/>
              <a:t>Bedrooms, grade, </a:t>
            </a:r>
            <a:r>
              <a:rPr lang="en-SG" sz="1800" b="1" dirty="0" err="1"/>
              <a:t>sqft_living</a:t>
            </a:r>
            <a:r>
              <a:rPr lang="en-SG" sz="1800" b="1" dirty="0"/>
              <a:t>, view and </a:t>
            </a:r>
            <a:r>
              <a:rPr lang="en-SG" sz="1800" b="1" dirty="0" err="1"/>
              <a:t>lat</a:t>
            </a:r>
            <a:r>
              <a:rPr lang="en-SG" sz="1800" dirty="0"/>
              <a:t> are selected as features for modelling.</a:t>
            </a:r>
          </a:p>
          <a:p>
            <a:pPr>
              <a:lnSpc>
                <a:spcPct val="110000"/>
              </a:lnSpc>
            </a:pPr>
            <a:endParaRPr lang="en-SG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620FB7-DBAB-7631-B125-E682FC72F3F3}"/>
              </a:ext>
            </a:extLst>
          </p:cNvPr>
          <p:cNvSpPr txBox="1"/>
          <p:nvPr/>
        </p:nvSpPr>
        <p:spPr>
          <a:xfrm>
            <a:off x="362599" y="3243590"/>
            <a:ext cx="29354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i="1" dirty="0"/>
              <a:t>Fig 3 Correlation heatmap (features w/o log price) </a:t>
            </a:r>
          </a:p>
        </p:txBody>
      </p:sp>
      <p:pic>
        <p:nvPicPr>
          <p:cNvPr id="13" name="Picture 12" descr="A screenshot of a graph">
            <a:extLst>
              <a:ext uri="{FF2B5EF4-FFF2-40B4-BE49-F238E27FC236}">
                <a16:creationId xmlns:a16="http://schemas.microsoft.com/office/drawing/2014/main" id="{9C8F5A22-0573-5056-82BF-9F8861234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47" y="531093"/>
            <a:ext cx="4273219" cy="2735629"/>
          </a:xfrm>
          <a:prstGeom prst="rect">
            <a:avLst/>
          </a:prstGeom>
        </p:spPr>
      </p:pic>
      <p:pic>
        <p:nvPicPr>
          <p:cNvPr id="17" name="Picture 16" descr="A screenshot of a graph">
            <a:extLst>
              <a:ext uri="{FF2B5EF4-FFF2-40B4-BE49-F238E27FC236}">
                <a16:creationId xmlns:a16="http://schemas.microsoft.com/office/drawing/2014/main" id="{F7FBBCCD-FA14-D632-8ED5-BC70859CC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49" y="3518386"/>
            <a:ext cx="4066526" cy="30262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68CB73F-4458-703F-4CD8-94A79441CF9E}"/>
              </a:ext>
            </a:extLst>
          </p:cNvPr>
          <p:cNvSpPr txBox="1"/>
          <p:nvPr/>
        </p:nvSpPr>
        <p:spPr>
          <a:xfrm>
            <a:off x="362599" y="6484670"/>
            <a:ext cx="19848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i="1" dirty="0"/>
              <a:t>Fig 4 Correlation heatmap (final) </a:t>
            </a:r>
          </a:p>
        </p:txBody>
      </p:sp>
    </p:spTree>
    <p:extLst>
      <p:ext uri="{BB962C8B-B14F-4D97-AF65-F5344CB8AC3E}">
        <p14:creationId xmlns:p14="http://schemas.microsoft.com/office/powerpoint/2010/main" val="2463197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7A580-21DC-77D1-4764-81EFD506C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6CE823-8542-C305-D575-F57741568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03452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n-SG" sz="2800" b="1" dirty="0">
                <a:solidFill>
                  <a:schemeClr val="bg1"/>
                </a:solidFill>
              </a:rPr>
              <a:t>2.   Exploratory Data Analysis – Data Transformation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2594449-DE5F-B274-522F-BF1C2A86AD6C}"/>
              </a:ext>
            </a:extLst>
          </p:cNvPr>
          <p:cNvSpPr txBox="1">
            <a:spLocks/>
          </p:cNvSpPr>
          <p:nvPr/>
        </p:nvSpPr>
        <p:spPr>
          <a:xfrm>
            <a:off x="172372" y="3914822"/>
            <a:ext cx="11334308" cy="25408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600" b="1" dirty="0"/>
              <a:t>#D. Exploratory Data Analysis (EDA)</a:t>
            </a:r>
          </a:p>
          <a:p>
            <a:endParaRPr lang="en-SG" sz="1400" b="1" u="sng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b="1" dirty="0" err="1"/>
              <a:t>Sqft_living</a:t>
            </a:r>
            <a:r>
              <a:rPr lang="en-US" sz="1400" b="1" dirty="0"/>
              <a:t> </a:t>
            </a:r>
            <a:r>
              <a:rPr lang="en-US" sz="1400" dirty="0"/>
              <a:t>and </a:t>
            </a:r>
            <a:r>
              <a:rPr lang="en-US" sz="1400" b="1" dirty="0"/>
              <a:t>bedrooms</a:t>
            </a:r>
            <a:r>
              <a:rPr lang="en-US" sz="1400" dirty="0"/>
              <a:t> have </a:t>
            </a:r>
            <a:r>
              <a:rPr lang="en-US" sz="1400" b="1" dirty="0"/>
              <a:t>significant</a:t>
            </a:r>
            <a:r>
              <a:rPr lang="en-US" sz="1400" dirty="0"/>
              <a:t> </a:t>
            </a:r>
            <a:r>
              <a:rPr lang="en-US" sz="1400" b="1" dirty="0"/>
              <a:t>outliers</a:t>
            </a:r>
            <a:r>
              <a:rPr lang="en-US" sz="1400" dirty="0"/>
              <a:t> (Fig 5) which might impact regression algorithms. As the quantity appears to be small, they will be removed.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Using a </a:t>
            </a:r>
            <a:r>
              <a:rPr lang="en-US" sz="1400" b="1" dirty="0"/>
              <a:t>quantile</a:t>
            </a:r>
            <a:r>
              <a:rPr lang="en-US" sz="1400" dirty="0"/>
              <a:t> of </a:t>
            </a:r>
            <a:r>
              <a:rPr lang="en-US" sz="1400" b="1" dirty="0"/>
              <a:t>0.02</a:t>
            </a:r>
            <a:r>
              <a:rPr lang="en-US" sz="1400" dirty="0"/>
              <a:t> and </a:t>
            </a:r>
            <a:r>
              <a:rPr lang="en-US" sz="1400" b="1" dirty="0"/>
              <a:t>0.98</a:t>
            </a:r>
            <a:r>
              <a:rPr lang="en-US" sz="1400" dirty="0"/>
              <a:t> on said features to minimally remove a total of 9 rows ( </a:t>
            </a:r>
            <a:r>
              <a:rPr lang="en-US" sz="1400" dirty="0" err="1"/>
              <a:t>Sqft_living</a:t>
            </a:r>
            <a:r>
              <a:rPr lang="en-US" sz="1400" dirty="0"/>
              <a:t>: 4, Bed: 5).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In Fig 6, less outliers for selected features are observed. More analysis on features are found in </a:t>
            </a:r>
            <a:r>
              <a:rPr lang="en-US" sz="1400" dirty="0" err="1"/>
              <a:t>Jupyter</a:t>
            </a:r>
            <a:r>
              <a:rPr lang="en-US" sz="1400" dirty="0"/>
              <a:t> notebook under Section label #D.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SG" sz="1400" dirty="0"/>
          </a:p>
          <a:p>
            <a:pPr>
              <a:lnSpc>
                <a:spcPct val="110000"/>
              </a:lnSpc>
            </a:pPr>
            <a:r>
              <a:rPr lang="en-SG" sz="1600" b="1" dirty="0"/>
              <a:t>#E.  Train - Test Split </a:t>
            </a:r>
          </a:p>
          <a:p>
            <a:pPr>
              <a:lnSpc>
                <a:spcPts val="600"/>
              </a:lnSpc>
            </a:pPr>
            <a:endParaRPr lang="en-SG" sz="1600" b="1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Used train-test split for 70 % - 30 % onto dataset.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Applied </a:t>
            </a:r>
            <a:r>
              <a:rPr lang="en-SG" sz="1400" b="1" dirty="0"/>
              <a:t>standardization</a:t>
            </a:r>
            <a:r>
              <a:rPr lang="en-SG" sz="1400" dirty="0"/>
              <a:t> on </a:t>
            </a:r>
            <a:r>
              <a:rPr lang="en-SG" sz="1400" b="1" dirty="0" err="1"/>
              <a:t>sqft</a:t>
            </a:r>
            <a:r>
              <a:rPr lang="en-SG" sz="1400" b="1" dirty="0"/>
              <a:t>-living</a:t>
            </a:r>
            <a:r>
              <a:rPr lang="en-SG" sz="1400" dirty="0"/>
              <a:t> in training data and test data. As observed in data summary, its large magnitude would dominate machine learning algorithm and needs to be standardize to improve model reliability/performance.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300B56-1E7A-433B-1E6F-6B2DC4994636}"/>
              </a:ext>
            </a:extLst>
          </p:cNvPr>
          <p:cNvSpPr txBox="1"/>
          <p:nvPr/>
        </p:nvSpPr>
        <p:spPr>
          <a:xfrm>
            <a:off x="255181" y="6419704"/>
            <a:ext cx="101434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i="1" u="sng" dirty="0"/>
              <a:t>Foot notes</a:t>
            </a:r>
          </a:p>
          <a:p>
            <a:r>
              <a:rPr lang="en-SG" sz="1000" i="1" dirty="0"/>
              <a:t>#D. , #E.  -  refers to section labels which are found at the top of the accompanying </a:t>
            </a:r>
            <a:r>
              <a:rPr lang="en-SG" sz="1000" i="1" dirty="0" err="1"/>
              <a:t>Jupyter</a:t>
            </a:r>
            <a:r>
              <a:rPr lang="en-SG" sz="1000" i="1" dirty="0"/>
              <a:t> notebook. </a:t>
            </a:r>
          </a:p>
        </p:txBody>
      </p:sp>
      <p:pic>
        <p:nvPicPr>
          <p:cNvPr id="12" name="Picture 11" descr="A diagram of a graph&#10;&#10;AI-generated content may be incorrect.">
            <a:extLst>
              <a:ext uri="{FF2B5EF4-FFF2-40B4-BE49-F238E27FC236}">
                <a16:creationId xmlns:a16="http://schemas.microsoft.com/office/drawing/2014/main" id="{8C0877D5-C642-B845-68BE-5C40457230D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839526" y="754366"/>
            <a:ext cx="5404827" cy="2663321"/>
          </a:xfrm>
          <a:prstGeom prst="rect">
            <a:avLst/>
          </a:prstGeom>
        </p:spPr>
      </p:pic>
      <p:pic>
        <p:nvPicPr>
          <p:cNvPr id="18" name="Picture 17" descr="A graph of a graph&#10;&#10;AI-generated content may be incorrect.">
            <a:extLst>
              <a:ext uri="{FF2B5EF4-FFF2-40B4-BE49-F238E27FC236}">
                <a16:creationId xmlns:a16="http://schemas.microsoft.com/office/drawing/2014/main" id="{A28B7D14-2A4E-E2E9-13D3-EE2474E25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15" y="765679"/>
            <a:ext cx="5234338" cy="2664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0847F2F-5A1F-667C-5F0C-90C61F2D6581}"/>
              </a:ext>
            </a:extLst>
          </p:cNvPr>
          <p:cNvSpPr txBox="1"/>
          <p:nvPr/>
        </p:nvSpPr>
        <p:spPr>
          <a:xfrm>
            <a:off x="403022" y="3488294"/>
            <a:ext cx="2621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i="1" dirty="0"/>
              <a:t>Fig 5 Box Plot for selected Features (original)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6E50AA-B3CA-D4EF-0096-26C42C1332EA}"/>
              </a:ext>
            </a:extLst>
          </p:cNvPr>
          <p:cNvSpPr txBox="1"/>
          <p:nvPr/>
        </p:nvSpPr>
        <p:spPr>
          <a:xfrm>
            <a:off x="6096000" y="3467844"/>
            <a:ext cx="2611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i="1" dirty="0"/>
              <a:t>Fig 6 Box Plot for selected Features (revised)</a:t>
            </a:r>
          </a:p>
        </p:txBody>
      </p:sp>
    </p:spTree>
    <p:extLst>
      <p:ext uri="{BB962C8B-B14F-4D97-AF65-F5344CB8AC3E}">
        <p14:creationId xmlns:p14="http://schemas.microsoft.com/office/powerpoint/2010/main" val="2066034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C3521-B261-F575-67AF-CD71367CF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9C9F06DF-E08F-5EB1-BACB-618176EB1433}"/>
              </a:ext>
            </a:extLst>
          </p:cNvPr>
          <p:cNvSpPr txBox="1">
            <a:spLocks/>
          </p:cNvSpPr>
          <p:nvPr/>
        </p:nvSpPr>
        <p:spPr>
          <a:xfrm>
            <a:off x="354933" y="3821704"/>
            <a:ext cx="11498871" cy="25403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400" b="1" dirty="0"/>
              <a:t>Observations: </a:t>
            </a:r>
          </a:p>
          <a:p>
            <a:pPr>
              <a:lnSpc>
                <a:spcPts val="800"/>
              </a:lnSpc>
            </a:pPr>
            <a:endParaRPr lang="en-SG" sz="1400" b="1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4  regression learning algorithms  (Multi Linear Regression, SVM, Random Forest and Gradient Boosting) for model building.  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Regularization (Ridge) and tuning of hyper parameters were applied on to improve performance.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RMSE (log price) will be transformed by exponential function back to original scale to allow a meaningful comparison on prediction of housing prices. </a:t>
            </a:r>
            <a:endParaRPr lang="en-SG" sz="14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Consequently, </a:t>
            </a:r>
            <a:r>
              <a:rPr lang="en-SG" sz="1400" b="1" dirty="0"/>
              <a:t>RMSE (Original price) </a:t>
            </a:r>
            <a:r>
              <a:rPr lang="en-SG" sz="1400" dirty="0"/>
              <a:t>is the </a:t>
            </a:r>
            <a:r>
              <a:rPr lang="en-SG" sz="1400" b="1" dirty="0"/>
              <a:t>primary</a:t>
            </a:r>
            <a:r>
              <a:rPr lang="en-SG" sz="1400" dirty="0"/>
              <a:t> metric to evaluate models; a lower score indicates lower prediction error on the original scale (price $). </a:t>
            </a:r>
          </a:p>
          <a:p>
            <a:pPr>
              <a:lnSpc>
                <a:spcPts val="800"/>
              </a:lnSpc>
            </a:pPr>
            <a:endParaRPr lang="en-SG" sz="1400" b="1" dirty="0"/>
          </a:p>
          <a:p>
            <a:pPr>
              <a:lnSpc>
                <a:spcPct val="120000"/>
              </a:lnSpc>
            </a:pPr>
            <a:r>
              <a:rPr lang="en-SG" sz="1400" b="1" dirty="0"/>
              <a:t>[ Conclusion ]</a:t>
            </a:r>
          </a:p>
          <a:p>
            <a:pPr>
              <a:lnSpc>
                <a:spcPts val="600"/>
              </a:lnSpc>
            </a:pPr>
            <a:endParaRPr lang="en-SG" sz="14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400" b="1" dirty="0"/>
              <a:t>Gradient Boosting </a:t>
            </a:r>
            <a:r>
              <a:rPr lang="en-SG" sz="1400" dirty="0"/>
              <a:t>produced the lowest metric scores for MSE (0.0468) and RMSE (0.2164); with the second lowest RMSE original price $161,777. </a:t>
            </a:r>
            <a:endParaRPr lang="en-SG" sz="1400" b="1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400" b="1" dirty="0"/>
              <a:t>Gradient Boosting (tuned) </a:t>
            </a:r>
            <a:r>
              <a:rPr lang="en-SG" sz="1400" dirty="0"/>
              <a:t>has the </a:t>
            </a:r>
            <a:r>
              <a:rPr lang="en-SG" sz="1400" u="sng" dirty="0"/>
              <a:t>lowest</a:t>
            </a:r>
            <a:r>
              <a:rPr lang="en-SG" sz="1400" dirty="0"/>
              <a:t> RMSE original score at </a:t>
            </a:r>
            <a:r>
              <a:rPr lang="en-SG" sz="1400" u="sng" dirty="0"/>
              <a:t>$161,015</a:t>
            </a:r>
            <a:r>
              <a:rPr lang="en-SG" sz="1400" dirty="0"/>
              <a:t>; with an optimal learning rate of 0.4. This suggested it is likely to predict housing prices at the lowest prediction error compared to remaining models.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400" b="1" dirty="0"/>
              <a:t>Gradient Boosting (tuned) </a:t>
            </a:r>
            <a:r>
              <a:rPr lang="en-SG" sz="1400" dirty="0"/>
              <a:t>will be the preferred model for predicting of house prices. </a:t>
            </a:r>
          </a:p>
        </p:txBody>
      </p:sp>
      <p:sp>
        <p:nvSpPr>
          <p:cNvPr id="12" name="Title 7">
            <a:extLst>
              <a:ext uri="{FF2B5EF4-FFF2-40B4-BE49-F238E27FC236}">
                <a16:creationId xmlns:a16="http://schemas.microsoft.com/office/drawing/2014/main" id="{096C035E-8F39-84DA-741D-5341394B3E06}"/>
              </a:ext>
            </a:extLst>
          </p:cNvPr>
          <p:cNvSpPr txBox="1">
            <a:spLocks/>
          </p:cNvSpPr>
          <p:nvPr/>
        </p:nvSpPr>
        <p:spPr>
          <a:xfrm>
            <a:off x="0" y="-2779"/>
            <a:ext cx="12192000" cy="50345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800" b="1" dirty="0">
                <a:solidFill>
                  <a:schemeClr val="bg1"/>
                </a:solidFill>
              </a:rPr>
              <a:t> 3. Model Evaluation (Confusion Matrix)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A93D80-391D-62CB-C56F-0D9DADE40EFE}"/>
              </a:ext>
            </a:extLst>
          </p:cNvPr>
          <p:cNvSpPr txBox="1"/>
          <p:nvPr/>
        </p:nvSpPr>
        <p:spPr>
          <a:xfrm>
            <a:off x="354933" y="6485034"/>
            <a:ext cx="10143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i="1" u="sng" dirty="0"/>
              <a:t>Foot notes</a:t>
            </a:r>
          </a:p>
          <a:p>
            <a:r>
              <a:rPr lang="en-SG" sz="1000" i="1" dirty="0"/>
              <a:t>#F. #G. #H. #J.  -  refers to section labels which are found at the top of the accompanying </a:t>
            </a:r>
            <a:r>
              <a:rPr lang="en-SG" sz="1000" i="1" dirty="0" err="1"/>
              <a:t>Jupyter</a:t>
            </a:r>
            <a:r>
              <a:rPr lang="en-SG" sz="1000" i="1" dirty="0"/>
              <a:t> notebook.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59EDD1-0716-BDA6-93F8-24E142498188}"/>
              </a:ext>
            </a:extLst>
          </p:cNvPr>
          <p:cNvSpPr txBox="1"/>
          <p:nvPr/>
        </p:nvSpPr>
        <p:spPr>
          <a:xfrm>
            <a:off x="441492" y="3247723"/>
            <a:ext cx="51618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dirty="0"/>
              <a:t>*   Ridge regression; hyper parameter tuned was alpha; best alpha was 0.3.  </a:t>
            </a:r>
          </a:p>
          <a:p>
            <a:r>
              <a:rPr lang="en-SG" sz="1000" dirty="0"/>
              <a:t>^   Hyper parameter tuned was learning rate;  best rate was 0.4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000" dirty="0"/>
          </a:p>
          <a:p>
            <a:endParaRPr lang="en-SG" sz="1000" dirty="0"/>
          </a:p>
        </p:txBody>
      </p:sp>
      <p:pic>
        <p:nvPicPr>
          <p:cNvPr id="5" name="Picture 4" descr="A table with numbers and a few words&#10;&#10;AI-generated content may be incorrect.">
            <a:extLst>
              <a:ext uri="{FF2B5EF4-FFF2-40B4-BE49-F238E27FC236}">
                <a16:creationId xmlns:a16="http://schemas.microsoft.com/office/drawing/2014/main" id="{FC9A1700-6A8D-439E-64FD-2D08B4103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92" y="495941"/>
            <a:ext cx="6511506" cy="276585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14134C0-FED3-B808-EEC8-1E09B581A01A}"/>
              </a:ext>
            </a:extLst>
          </p:cNvPr>
          <p:cNvSpPr/>
          <p:nvPr/>
        </p:nvSpPr>
        <p:spPr>
          <a:xfrm>
            <a:off x="6070497" y="850605"/>
            <a:ext cx="830035" cy="2411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8538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C49F61-3E0B-EADA-9B05-EA0E6E453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SG" sz="4800">
                <a:solidFill>
                  <a:srgbClr val="FFFFFF"/>
                </a:solidFill>
              </a:rPr>
              <a:t>End </a:t>
            </a:r>
          </a:p>
        </p:txBody>
      </p:sp>
    </p:spTree>
    <p:extLst>
      <p:ext uri="{BB962C8B-B14F-4D97-AF65-F5344CB8AC3E}">
        <p14:creationId xmlns:p14="http://schemas.microsoft.com/office/powerpoint/2010/main" val="3677814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2980</TotalTime>
  <Words>2443</Words>
  <Application>Microsoft Office PowerPoint</Application>
  <PresentationFormat>Widescreen</PresentationFormat>
  <Paragraphs>196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Objectives and Outline:</vt:lpstr>
      <vt:lpstr>1.   Data Preprocessing </vt:lpstr>
      <vt:lpstr>2.   Exploratory Data Analysis</vt:lpstr>
      <vt:lpstr>2.   Exploratory Data Analysis</vt:lpstr>
      <vt:lpstr>3.   Data Transformation</vt:lpstr>
      <vt:lpstr>PowerPoint Presentation</vt:lpstr>
      <vt:lpstr> </vt:lpstr>
      <vt:lpstr>Objectives and Outline:</vt:lpstr>
      <vt:lpstr>1.   Data Preprocessing </vt:lpstr>
      <vt:lpstr>2.  Features Selection</vt:lpstr>
      <vt:lpstr>2.   Exploratory Data Analysis – Data Transformation</vt:lpstr>
      <vt:lpstr>PowerPoint Presentation</vt:lpstr>
      <vt:lpstr>End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Ong</dc:creator>
  <cp:lastModifiedBy>Jason Ong</cp:lastModifiedBy>
  <cp:revision>5</cp:revision>
  <dcterms:created xsi:type="dcterms:W3CDTF">2024-12-21T06:57:58Z</dcterms:created>
  <dcterms:modified xsi:type="dcterms:W3CDTF">2026-01-10T16:17:33Z</dcterms:modified>
</cp:coreProperties>
</file>